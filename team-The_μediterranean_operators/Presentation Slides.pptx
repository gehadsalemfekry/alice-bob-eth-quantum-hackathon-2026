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diagrams/data2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7" r:id="rId2"/>
    <p:sldId id="273" r:id="rId3"/>
    <p:sldId id="257" r:id="rId4"/>
    <p:sldId id="272" r:id="rId5"/>
    <p:sldId id="276" r:id="rId6"/>
    <p:sldId id="268" r:id="rId7"/>
    <p:sldId id="270" r:id="rId8"/>
    <p:sldId id="258" r:id="rId9"/>
    <p:sldId id="279" r:id="rId10"/>
    <p:sldId id="263" r:id="rId11"/>
    <p:sldId id="281" r:id="rId12"/>
    <p:sldId id="282" r:id="rId13"/>
    <p:sldId id="284" r:id="rId14"/>
    <p:sldId id="289" r:id="rId15"/>
    <p:sldId id="290" r:id="rId16"/>
    <p:sldId id="291" r:id="rId17"/>
    <p:sldId id="292" r:id="rId18"/>
    <p:sldId id="277" r:id="rId19"/>
    <p:sldId id="278" r:id="rId20"/>
    <p:sldId id="265" r:id="rId21"/>
    <p:sldId id="280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7173CD-EB6C-7B25-3BC1-A825F1F0753A}" v="90" dt="2026-05-10T08:56:17.052"/>
    <p1510:client id="{32D7CDFB-1E52-C110-90CE-9EE73DEFADFB}" v="108" dt="2026-05-10T08:26:16.797"/>
    <p1510:client id="{86A8F262-D2D2-431D-AA63-ADB035C6DCE0}" v="961" dt="2026-05-10T08:53:41.941"/>
    <p1510:client id="{ACF50B6E-94CB-B8A0-54F8-2E537448F954}" v="64" dt="2026-05-10T08:59:34.840"/>
    <p1510:client id="{F6BFC29A-B823-01C9-7208-53F68EE9D0C9}" v="615" dt="2026-05-10T08:31:31.855"/>
  </p1510:revLst>
</p1510:revInfo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230.png"/><Relationship Id="rId1" Type="http://schemas.openxmlformats.org/officeDocument/2006/relationships/image" Target="../media/image22.png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svg"/><Relationship Id="rId1" Type="http://schemas.openxmlformats.org/officeDocument/2006/relationships/image" Target="../media/image16.svg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B841B6-E9E1-432D-AC84-1B4244781B0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77A4DBE-3A69-4F66-8D1B-158DA87FE6D0}">
      <dgm:prSet/>
      <dgm:spPr/>
      <dgm:t>
        <a:bodyPr/>
        <a:lstStyle/>
        <a:p>
          <a:r>
            <a:rPr lang="en-GB"/>
            <a:t>1. Initialize a CMA-ES search distribution around the model's default knob values.</a:t>
          </a:r>
          <a:endParaRPr lang="en-US"/>
        </a:p>
      </dgm:t>
    </dgm:pt>
    <dgm:pt modelId="{C7716D6E-62AA-41C7-8C1F-47626438E6C6}" type="parTrans" cxnId="{58E53BC7-7B70-419F-BB68-0F9BC33DBD53}">
      <dgm:prSet/>
      <dgm:spPr/>
      <dgm:t>
        <a:bodyPr/>
        <a:lstStyle/>
        <a:p>
          <a:endParaRPr lang="en-US"/>
        </a:p>
      </dgm:t>
    </dgm:pt>
    <dgm:pt modelId="{A21ECA57-C688-4943-92E6-91D37B655890}" type="sibTrans" cxnId="{58E53BC7-7B70-419F-BB68-0F9BC33DBD53}">
      <dgm:prSet/>
      <dgm:spPr/>
      <dgm:t>
        <a:bodyPr/>
        <a:lstStyle/>
        <a:p>
          <a:endParaRPr lang="en-US"/>
        </a:p>
      </dgm:t>
    </dgm:pt>
    <dgm:pt modelId="{D1510778-9A33-4A11-A814-F134BCBE1983}">
      <dgm:prSet/>
      <dgm:spPr/>
      <dgm:t>
        <a:bodyPr/>
        <a:lstStyle/>
        <a:p>
          <a:r>
            <a:rPr lang="en-GB"/>
            <a:t>2. Ask for a batch of candidate knob settings from the current distribution.</a:t>
          </a:r>
          <a:endParaRPr lang="en-US"/>
        </a:p>
      </dgm:t>
    </dgm:pt>
    <dgm:pt modelId="{0B69FCAC-25C2-4F31-AC31-782F44B86CD8}" type="parTrans" cxnId="{037215BD-7C17-4530-88D4-9EE66B230E49}">
      <dgm:prSet/>
      <dgm:spPr/>
      <dgm:t>
        <a:bodyPr/>
        <a:lstStyle/>
        <a:p>
          <a:endParaRPr lang="en-US"/>
        </a:p>
      </dgm:t>
    </dgm:pt>
    <dgm:pt modelId="{8C953E6E-86AB-4A5C-8899-612D16DE5FD0}" type="sibTrans" cxnId="{037215BD-7C17-4530-88D4-9EE66B230E4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11D75BDC-4418-4800-8532-ADDE37623E0D}">
          <dgm:prSet/>
          <dgm:spPr/>
          <dgm:t>
            <a:bodyPr/>
            <a:lstStyle/>
            <a:p>
              <a:r>
                <a:rPr lang="en-GB"/>
                <a:t>3. Evaluate each candidate by building the Hamiltonian, simulating the dynamics, and measuring </a:t>
              </a:r>
              <a14:m>
                <m:oMath xmlns:m="http://schemas.openxmlformats.org/officeDocument/2006/math">
                  <m:sSub>
                    <m:sSubPr>
                      <m:ctrlPr>
                        <a:rPr lang="fr-CH" b="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𝑧</m:t>
                      </m:r>
                    </m:sub>
                  </m:sSub>
                </m:oMath>
              </a14:m>
              <a:r>
                <a:rPr lang="en-GB"/>
                <a:t>, </a:t>
              </a:r>
              <a14:m>
                <m:oMath xmlns:m="http://schemas.openxmlformats.org/officeDocument/2006/math">
                  <m:sSub>
                    <m:sSubPr>
                      <m:ctrlPr>
                        <a:rPr lang="fr-CH" b="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𝑥</m:t>
                      </m:r>
                    </m:sub>
                  </m:sSub>
                </m:oMath>
              </a14:m>
              <a:r>
                <a:rPr lang="en-GB"/>
                <a:t>, and bias.</a:t>
              </a:r>
              <a:endParaRPr lang="en-US"/>
            </a:p>
          </dgm:t>
        </dgm:pt>
      </mc:Choice>
      <mc:Fallback xmlns="">
        <dgm:pt modelId="{11D75BDC-4418-4800-8532-ADDE37623E0D}">
          <dgm:prSet/>
          <dgm:spPr/>
          <dgm:t>
            <a:bodyPr/>
            <a:lstStyle/>
            <a:p>
              <a:r>
                <a:rPr lang="en-GB"/>
                <a:t>3. Evaluate each candidate by building the Hamiltonian, simulating the dynamics, and measuring </a:t>
              </a:r>
              <a:r>
                <a:rPr lang="fr-CH" b="0" i="0">
                  <a:latin typeface="Cambria Math" panose="02040503050406030204" pitchFamily="18" charset="0"/>
                </a:rPr>
                <a:t>𝑇_𝑧</a:t>
              </a:r>
              <a:r>
                <a:rPr lang="en-GB"/>
                <a:t>, </a:t>
              </a:r>
              <a:r>
                <a:rPr lang="fr-CH" b="0" i="0">
                  <a:latin typeface="Cambria Math" panose="02040503050406030204" pitchFamily="18" charset="0"/>
                </a:rPr>
                <a:t>𝑇_𝑥</a:t>
              </a:r>
              <a:r>
                <a:rPr lang="en-GB"/>
                <a:t>, and bias.</a:t>
              </a:r>
              <a:endParaRPr lang="en-US"/>
            </a:p>
          </dgm:t>
        </dgm:pt>
      </mc:Fallback>
    </mc:AlternateContent>
    <dgm:pt modelId="{B843E3ED-712E-435A-90B0-976597BB8226}" type="parTrans" cxnId="{A9C3774B-A404-4FBC-9DC2-4F1613192E58}">
      <dgm:prSet/>
      <dgm:spPr/>
      <dgm:t>
        <a:bodyPr/>
        <a:lstStyle/>
        <a:p>
          <a:endParaRPr lang="en-US"/>
        </a:p>
      </dgm:t>
    </dgm:pt>
    <dgm:pt modelId="{192E3ACE-A5E0-40F5-AF97-D513016D9130}" type="sibTrans" cxnId="{A9C3774B-A404-4FBC-9DC2-4F1613192E58}">
      <dgm:prSet/>
      <dgm:spPr/>
      <dgm:t>
        <a:bodyPr/>
        <a:lstStyle/>
        <a:p>
          <a:endParaRPr lang="en-US"/>
        </a:p>
      </dgm:t>
    </dgm:pt>
    <dgm:pt modelId="{C46B5E56-8AD4-4E14-84A0-B7805637A676}">
      <dgm:prSet/>
      <dgm:spPr/>
      <dgm:t>
        <a:bodyPr/>
        <a:lstStyle/>
        <a:p>
          <a:r>
            <a:rPr lang="en-GB"/>
            <a:t>4. Score each candidate with one of the reward functions defined before.</a:t>
          </a:r>
          <a:endParaRPr lang="en-US"/>
        </a:p>
      </dgm:t>
    </dgm:pt>
    <dgm:pt modelId="{1A3277C2-0D69-4FC0-B39C-6EB01BEA609F}" type="parTrans" cxnId="{5597AC39-894F-49AC-8D8E-67AC01D4A2F0}">
      <dgm:prSet/>
      <dgm:spPr/>
      <dgm:t>
        <a:bodyPr/>
        <a:lstStyle/>
        <a:p>
          <a:endParaRPr lang="en-US"/>
        </a:p>
      </dgm:t>
    </dgm:pt>
    <dgm:pt modelId="{806204A7-20BB-408C-8543-ACA298CB7D00}" type="sibTrans" cxnId="{5597AC39-894F-49AC-8D8E-67AC01D4A2F0}">
      <dgm:prSet/>
      <dgm:spPr/>
      <dgm:t>
        <a:bodyPr/>
        <a:lstStyle/>
        <a:p>
          <a:endParaRPr lang="en-US"/>
        </a:p>
      </dgm:t>
    </dgm:pt>
    <dgm:pt modelId="{B44DDC61-1357-4FF4-B08D-AB8034DADB87}">
      <dgm:prSet/>
      <dgm:spPr/>
      <dgm:t>
        <a:bodyPr/>
        <a:lstStyle/>
        <a:p>
          <a:r>
            <a:rPr lang="en-GB"/>
            <a:t>5. Tell the optimizer the rewards so it updates its sampling distribution.</a:t>
          </a:r>
          <a:endParaRPr lang="en-US"/>
        </a:p>
      </dgm:t>
    </dgm:pt>
    <dgm:pt modelId="{4C4F1350-9EAD-4C53-9DF2-F695EE1F0FBD}" type="parTrans" cxnId="{DDF118A8-8C1D-4BDB-8FA5-437AF35CFDA9}">
      <dgm:prSet/>
      <dgm:spPr/>
      <dgm:t>
        <a:bodyPr/>
        <a:lstStyle/>
        <a:p>
          <a:endParaRPr lang="en-US"/>
        </a:p>
      </dgm:t>
    </dgm:pt>
    <dgm:pt modelId="{A72A80B3-1BC6-41F5-B073-5233FA80CAC3}" type="sibTrans" cxnId="{DDF118A8-8C1D-4BDB-8FA5-437AF35CFDA9}">
      <dgm:prSet/>
      <dgm:spPr/>
      <dgm:t>
        <a:bodyPr/>
        <a:lstStyle/>
        <a:p>
          <a:endParaRPr lang="en-US"/>
        </a:p>
      </dgm:t>
    </dgm:pt>
    <mc:AlternateContent xmlns:mc="http://schemas.openxmlformats.org/markup-compatibility/2006" xmlns:a14="http://schemas.microsoft.com/office/drawing/2010/main">
      <mc:Choice Requires="a14">
        <dgm:pt modelId="{34D0D5E4-1992-440B-A7B3-01D84568E5CD}">
          <dgm:prSet/>
          <dgm:spPr/>
          <dgm:t>
            <a:bodyPr/>
            <a:lstStyle/>
            <a:p>
              <a:r>
                <a:rPr lang="en-GB"/>
                <a:t>6. Repeat under the current drift condition, tracking reward, </a:t>
              </a:r>
              <a14:m>
                <m:oMath xmlns:m="http://schemas.openxmlformats.org/officeDocument/2006/math">
                  <m:sSub>
                    <m:sSubPr>
                      <m:ctrlPr>
                        <a:rPr lang="fr-CH" b="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𝑧</m:t>
                      </m:r>
                    </m:sub>
                  </m:sSub>
                </m:oMath>
              </a14:m>
              <a:r>
                <a:rPr lang="en-GB"/>
                <a:t>, </a:t>
              </a:r>
              <a14:m>
                <m:oMath xmlns:m="http://schemas.openxmlformats.org/officeDocument/2006/math">
                  <m:sSub>
                    <m:sSubPr>
                      <m:ctrlPr>
                        <a:rPr lang="fr-CH" b="0" i="1" smtClean="0">
                          <a:latin typeface="Cambria Math" panose="02040503050406030204" pitchFamily="18" charset="0"/>
                        </a:rPr>
                      </m:ctrlPr>
                    </m:sSubPr>
                    <m:e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𝑇</m:t>
                      </m:r>
                    </m:e>
                    <m:sub>
                      <m:r>
                        <a:rPr lang="fr-CH" b="0" i="1" smtClean="0">
                          <a:latin typeface="Cambria Math" panose="02040503050406030204" pitchFamily="18" charset="0"/>
                        </a:rPr>
                        <m:t>𝑥</m:t>
                      </m:r>
                    </m:sub>
                  </m:sSub>
                </m:oMath>
              </a14:m>
              <a:r>
                <a:rPr lang="en-GB"/>
                <a:t>, and </a:t>
              </a:r>
              <a14:m>
                <m:oMath xmlns:m="http://schemas.openxmlformats.org/officeDocument/2006/math">
                  <m:r>
                    <a:rPr lang="en-GB" i="1" dirty="0" smtClean="0">
                      <a:latin typeface="Cambria Math" panose="02040503050406030204" pitchFamily="18" charset="0"/>
                    </a:rPr>
                    <m:t>𝜂</m:t>
                  </m:r>
                  <m:r>
                    <a:rPr lang="en-GB" i="1" dirty="0" smtClean="0">
                      <a:latin typeface="Cambria Math" panose="02040503050406030204" pitchFamily="18" charset="0"/>
                    </a:rPr>
                    <m:t> </m:t>
                  </m:r>
                </m:oMath>
              </a14:m>
              <a:r>
                <a:rPr lang="en-GB"/>
                <a:t>over epochs.</a:t>
              </a:r>
              <a:endParaRPr lang="en-US"/>
            </a:p>
          </dgm:t>
        </dgm:pt>
      </mc:Choice>
      <mc:Fallback xmlns="">
        <dgm:pt modelId="{34D0D5E4-1992-440B-A7B3-01D84568E5CD}">
          <dgm:prSet/>
          <dgm:spPr/>
          <dgm:t>
            <a:bodyPr/>
            <a:lstStyle/>
            <a:p>
              <a:r>
                <a:rPr lang="en-GB"/>
                <a:t>6. Repeat under the current drift condition, tracking reward, </a:t>
              </a:r>
              <a:r>
                <a:rPr lang="fr-CH" b="0" i="0">
                  <a:latin typeface="Cambria Math" panose="02040503050406030204" pitchFamily="18" charset="0"/>
                </a:rPr>
                <a:t>𝑇_𝑧</a:t>
              </a:r>
              <a:r>
                <a:rPr lang="en-GB"/>
                <a:t>, </a:t>
              </a:r>
              <a:r>
                <a:rPr lang="fr-CH" b="0" i="0">
                  <a:latin typeface="Cambria Math" panose="02040503050406030204" pitchFamily="18" charset="0"/>
                </a:rPr>
                <a:t>𝑇_𝑥</a:t>
              </a:r>
              <a:r>
                <a:rPr lang="en-GB"/>
                <a:t>, and </a:t>
              </a:r>
              <a:r>
                <a:rPr lang="en-GB" i="0" dirty="0">
                  <a:latin typeface="Cambria Math" panose="02040503050406030204" pitchFamily="18" charset="0"/>
                </a:rPr>
                <a:t>𝜂 </a:t>
              </a:r>
              <a:r>
                <a:rPr lang="en-GB"/>
                <a:t>over epochs.</a:t>
              </a:r>
              <a:endParaRPr lang="en-US"/>
            </a:p>
          </dgm:t>
        </dgm:pt>
      </mc:Fallback>
    </mc:AlternateContent>
    <dgm:pt modelId="{805B2013-AC6D-4B68-A163-8BCD818AD13D}" type="parTrans" cxnId="{D9EDA483-A2AD-4622-AC36-86B835D9568A}">
      <dgm:prSet/>
      <dgm:spPr/>
      <dgm:t>
        <a:bodyPr/>
        <a:lstStyle/>
        <a:p>
          <a:endParaRPr lang="en-US"/>
        </a:p>
      </dgm:t>
    </dgm:pt>
    <dgm:pt modelId="{4750975E-7037-4754-97D5-78C58982C002}" type="sibTrans" cxnId="{D9EDA483-A2AD-4622-AC36-86B835D9568A}">
      <dgm:prSet/>
      <dgm:spPr/>
      <dgm:t>
        <a:bodyPr/>
        <a:lstStyle/>
        <a:p>
          <a:endParaRPr lang="en-US"/>
        </a:p>
      </dgm:t>
    </dgm:pt>
    <dgm:pt modelId="{1237A671-E2E0-4F0E-A357-F028AEA0165B}" type="pres">
      <dgm:prSet presAssocID="{86B841B6-E9E1-432D-AC84-1B4244781B0A}" presName="root" presStyleCnt="0">
        <dgm:presLayoutVars>
          <dgm:dir/>
          <dgm:resizeHandles val="exact"/>
        </dgm:presLayoutVars>
      </dgm:prSet>
      <dgm:spPr/>
    </dgm:pt>
    <dgm:pt modelId="{69004263-37E5-48DF-9829-16C9D896BD5A}" type="pres">
      <dgm:prSet presAssocID="{E77A4DBE-3A69-4F66-8D1B-158DA87FE6D0}" presName="compNode" presStyleCnt="0"/>
      <dgm:spPr/>
    </dgm:pt>
    <dgm:pt modelId="{0F6066A8-EB16-47CC-AB98-1F39E468AB98}" type="pres">
      <dgm:prSet presAssocID="{E77A4DBE-3A69-4F66-8D1B-158DA87FE6D0}" presName="bgRect" presStyleLbl="bgShp" presStyleIdx="0" presStyleCnt="6"/>
      <dgm:spPr/>
    </dgm:pt>
    <dgm:pt modelId="{620A18EF-129D-45DA-94AB-4A634678F83B}" type="pres">
      <dgm:prSet presAssocID="{E77A4DBE-3A69-4F66-8D1B-158DA87FE6D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86DA514C-39DC-41B4-9AB8-B0B9E9F6A4E7}" type="pres">
      <dgm:prSet presAssocID="{E77A4DBE-3A69-4F66-8D1B-158DA87FE6D0}" presName="spaceRect" presStyleCnt="0"/>
      <dgm:spPr/>
    </dgm:pt>
    <dgm:pt modelId="{B8CDAA36-88DD-4B0D-9340-39C109054F01}" type="pres">
      <dgm:prSet presAssocID="{E77A4DBE-3A69-4F66-8D1B-158DA87FE6D0}" presName="parTx" presStyleLbl="revTx" presStyleIdx="0" presStyleCnt="6">
        <dgm:presLayoutVars>
          <dgm:chMax val="0"/>
          <dgm:chPref val="0"/>
        </dgm:presLayoutVars>
      </dgm:prSet>
      <dgm:spPr/>
    </dgm:pt>
    <dgm:pt modelId="{D3FA62ED-8E95-49E0-8F19-6139D8D13E16}" type="pres">
      <dgm:prSet presAssocID="{A21ECA57-C688-4943-92E6-91D37B655890}" presName="sibTrans" presStyleCnt="0"/>
      <dgm:spPr/>
    </dgm:pt>
    <dgm:pt modelId="{9E3F93AF-68C7-4043-967C-E2ABF67C2DEB}" type="pres">
      <dgm:prSet presAssocID="{D1510778-9A33-4A11-A814-F134BCBE1983}" presName="compNode" presStyleCnt="0"/>
      <dgm:spPr/>
    </dgm:pt>
    <dgm:pt modelId="{34171257-8CE9-49CA-9D74-A3B026B4E43B}" type="pres">
      <dgm:prSet presAssocID="{D1510778-9A33-4A11-A814-F134BCBE1983}" presName="bgRect" presStyleLbl="bgShp" presStyleIdx="1" presStyleCnt="6"/>
      <dgm:spPr/>
    </dgm:pt>
    <dgm:pt modelId="{D6E1EE47-8B06-489C-A48A-13459C32ECC4}" type="pres">
      <dgm:prSet presAssocID="{D1510778-9A33-4A11-A814-F134BCBE1983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4D6B703F-7404-4A54-B7FA-44BF2B823B47}" type="pres">
      <dgm:prSet presAssocID="{D1510778-9A33-4A11-A814-F134BCBE1983}" presName="spaceRect" presStyleCnt="0"/>
      <dgm:spPr/>
    </dgm:pt>
    <dgm:pt modelId="{B235A5D4-491E-480D-A3C8-F803A018F616}" type="pres">
      <dgm:prSet presAssocID="{D1510778-9A33-4A11-A814-F134BCBE1983}" presName="parTx" presStyleLbl="revTx" presStyleIdx="1" presStyleCnt="6">
        <dgm:presLayoutVars>
          <dgm:chMax val="0"/>
          <dgm:chPref val="0"/>
        </dgm:presLayoutVars>
      </dgm:prSet>
      <dgm:spPr/>
    </dgm:pt>
    <dgm:pt modelId="{4FDFD4DC-572D-4A95-A013-5E4BC83BB9C3}" type="pres">
      <dgm:prSet presAssocID="{8C953E6E-86AB-4A5C-8899-612D16DE5FD0}" presName="sibTrans" presStyleCnt="0"/>
      <dgm:spPr/>
    </dgm:pt>
    <dgm:pt modelId="{02D33F51-F8C0-4697-966B-04055CCF6150}" type="pres">
      <dgm:prSet presAssocID="{11D75BDC-4418-4800-8532-ADDE37623E0D}" presName="compNode" presStyleCnt="0"/>
      <dgm:spPr/>
    </dgm:pt>
    <dgm:pt modelId="{11C428BB-E28C-4E39-8700-EACCA7C6FC69}" type="pres">
      <dgm:prSet presAssocID="{11D75BDC-4418-4800-8532-ADDE37623E0D}" presName="bgRect" presStyleLbl="bgShp" presStyleIdx="2" presStyleCnt="6"/>
      <dgm:spPr/>
    </dgm:pt>
    <dgm:pt modelId="{95A72738-9391-4EFA-92DB-A9DEC09FB157}" type="pres">
      <dgm:prSet presAssocID="{11D75BDC-4418-4800-8532-ADDE37623E0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09E7C4F-0D5B-40ED-821C-343DD432A7D2}" type="pres">
      <dgm:prSet presAssocID="{11D75BDC-4418-4800-8532-ADDE37623E0D}" presName="spaceRect" presStyleCnt="0"/>
      <dgm:spPr/>
    </dgm:pt>
    <dgm:pt modelId="{ABBF8CAC-457D-418C-B8F3-02FAA8B5B60C}" type="pres">
      <dgm:prSet presAssocID="{11D75BDC-4418-4800-8532-ADDE37623E0D}" presName="parTx" presStyleLbl="revTx" presStyleIdx="2" presStyleCnt="6">
        <dgm:presLayoutVars>
          <dgm:chMax val="0"/>
          <dgm:chPref val="0"/>
        </dgm:presLayoutVars>
      </dgm:prSet>
      <dgm:spPr/>
    </dgm:pt>
    <dgm:pt modelId="{DE5305CA-C210-45D1-A413-5856BBDBC550}" type="pres">
      <dgm:prSet presAssocID="{192E3ACE-A5E0-40F5-AF97-D513016D9130}" presName="sibTrans" presStyleCnt="0"/>
      <dgm:spPr/>
    </dgm:pt>
    <dgm:pt modelId="{277B8B70-1A4A-481A-B9C0-D6CD30E982D0}" type="pres">
      <dgm:prSet presAssocID="{C46B5E56-8AD4-4E14-84A0-B7805637A676}" presName="compNode" presStyleCnt="0"/>
      <dgm:spPr/>
    </dgm:pt>
    <dgm:pt modelId="{F907790F-2468-4EA2-A6F3-E7DF3F35E506}" type="pres">
      <dgm:prSet presAssocID="{C46B5E56-8AD4-4E14-84A0-B7805637A676}" presName="bgRect" presStyleLbl="bgShp" presStyleIdx="3" presStyleCnt="6"/>
      <dgm:spPr/>
    </dgm:pt>
    <dgm:pt modelId="{894D80F1-6330-4F34-9752-79AF585CEA76}" type="pres">
      <dgm:prSet presAssocID="{C46B5E56-8AD4-4E14-84A0-B7805637A67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5AB160C9-93F8-4B90-979A-83B25899F476}" type="pres">
      <dgm:prSet presAssocID="{C46B5E56-8AD4-4E14-84A0-B7805637A676}" presName="spaceRect" presStyleCnt="0"/>
      <dgm:spPr/>
    </dgm:pt>
    <dgm:pt modelId="{D03A8EFF-DBDF-4073-9590-5E7F18C3BCF2}" type="pres">
      <dgm:prSet presAssocID="{C46B5E56-8AD4-4E14-84A0-B7805637A676}" presName="parTx" presStyleLbl="revTx" presStyleIdx="3" presStyleCnt="6">
        <dgm:presLayoutVars>
          <dgm:chMax val="0"/>
          <dgm:chPref val="0"/>
        </dgm:presLayoutVars>
      </dgm:prSet>
      <dgm:spPr/>
    </dgm:pt>
    <dgm:pt modelId="{A5A8F788-7DDC-4FEA-B163-F704CB49FCF0}" type="pres">
      <dgm:prSet presAssocID="{806204A7-20BB-408C-8543-ACA298CB7D00}" presName="sibTrans" presStyleCnt="0"/>
      <dgm:spPr/>
    </dgm:pt>
    <dgm:pt modelId="{6F433170-9C2D-46D9-8A6C-99B370591F92}" type="pres">
      <dgm:prSet presAssocID="{B44DDC61-1357-4FF4-B08D-AB8034DADB87}" presName="compNode" presStyleCnt="0"/>
      <dgm:spPr/>
    </dgm:pt>
    <dgm:pt modelId="{80B79917-4BEA-4BC9-80D6-C7B26EFA54FF}" type="pres">
      <dgm:prSet presAssocID="{B44DDC61-1357-4FF4-B08D-AB8034DADB87}" presName="bgRect" presStyleLbl="bgShp" presStyleIdx="4" presStyleCnt="6"/>
      <dgm:spPr/>
    </dgm:pt>
    <dgm:pt modelId="{25096B11-9DDE-4BDE-B2AF-CB23A5865374}" type="pres">
      <dgm:prSet presAssocID="{B44DDC61-1357-4FF4-B08D-AB8034DADB8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F43FAD7F-DB12-4AD5-8BAD-3BC42146B70A}" type="pres">
      <dgm:prSet presAssocID="{B44DDC61-1357-4FF4-B08D-AB8034DADB87}" presName="spaceRect" presStyleCnt="0"/>
      <dgm:spPr/>
    </dgm:pt>
    <dgm:pt modelId="{59C5C835-1BFD-4419-880A-0AE52ADB8CA7}" type="pres">
      <dgm:prSet presAssocID="{B44DDC61-1357-4FF4-B08D-AB8034DADB87}" presName="parTx" presStyleLbl="revTx" presStyleIdx="4" presStyleCnt="6">
        <dgm:presLayoutVars>
          <dgm:chMax val="0"/>
          <dgm:chPref val="0"/>
        </dgm:presLayoutVars>
      </dgm:prSet>
      <dgm:spPr/>
    </dgm:pt>
    <dgm:pt modelId="{D03B234E-8D4A-489E-A488-9344EF0513C9}" type="pres">
      <dgm:prSet presAssocID="{A72A80B3-1BC6-41F5-B073-5233FA80CAC3}" presName="sibTrans" presStyleCnt="0"/>
      <dgm:spPr/>
    </dgm:pt>
    <dgm:pt modelId="{3B6C7F6A-3BCF-49F8-8959-9DA7F4250313}" type="pres">
      <dgm:prSet presAssocID="{34D0D5E4-1992-440B-A7B3-01D84568E5CD}" presName="compNode" presStyleCnt="0"/>
      <dgm:spPr/>
    </dgm:pt>
    <dgm:pt modelId="{D773F93D-C79D-494D-8BA0-AE92E41BA238}" type="pres">
      <dgm:prSet presAssocID="{34D0D5E4-1992-440B-A7B3-01D84568E5CD}" presName="bgRect" presStyleLbl="bgShp" presStyleIdx="5" presStyleCnt="6"/>
      <dgm:spPr/>
    </dgm:pt>
    <dgm:pt modelId="{D3526AEB-379C-43E4-9252-6C215F898059}" type="pres">
      <dgm:prSet presAssocID="{34D0D5E4-1992-440B-A7B3-01D84568E5C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8E6574A4-851F-4E7E-941A-2A01DA68EE1F}" type="pres">
      <dgm:prSet presAssocID="{34D0D5E4-1992-440B-A7B3-01D84568E5CD}" presName="spaceRect" presStyleCnt="0"/>
      <dgm:spPr/>
    </dgm:pt>
    <dgm:pt modelId="{454A2602-29FA-424F-A854-020D4D9B6A43}" type="pres">
      <dgm:prSet presAssocID="{34D0D5E4-1992-440B-A7B3-01D84568E5C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1640113-AD74-46F9-8737-3289135D26ED}" type="presOf" srcId="{E77A4DBE-3A69-4F66-8D1B-158DA87FE6D0}" destId="{B8CDAA36-88DD-4B0D-9340-39C109054F01}" srcOrd="0" destOrd="0" presId="urn:microsoft.com/office/officeart/2018/2/layout/IconVerticalSolidList"/>
    <dgm:cxn modelId="{4C83B52D-3309-42FD-92FB-98D8EE65710E}" type="presOf" srcId="{34D0D5E4-1992-440B-A7B3-01D84568E5CD}" destId="{454A2602-29FA-424F-A854-020D4D9B6A43}" srcOrd="0" destOrd="0" presId="urn:microsoft.com/office/officeart/2018/2/layout/IconVerticalSolidList"/>
    <dgm:cxn modelId="{C9ECC531-80E7-45F6-B7CF-31DE6641A821}" type="presOf" srcId="{B44DDC61-1357-4FF4-B08D-AB8034DADB87}" destId="{59C5C835-1BFD-4419-880A-0AE52ADB8CA7}" srcOrd="0" destOrd="0" presId="urn:microsoft.com/office/officeart/2018/2/layout/IconVerticalSolidList"/>
    <dgm:cxn modelId="{5597AC39-894F-49AC-8D8E-67AC01D4A2F0}" srcId="{86B841B6-E9E1-432D-AC84-1B4244781B0A}" destId="{C46B5E56-8AD4-4E14-84A0-B7805637A676}" srcOrd="3" destOrd="0" parTransId="{1A3277C2-0D69-4FC0-B39C-6EB01BEA609F}" sibTransId="{806204A7-20BB-408C-8543-ACA298CB7D00}"/>
    <dgm:cxn modelId="{A9C3774B-A404-4FBC-9DC2-4F1613192E58}" srcId="{86B841B6-E9E1-432D-AC84-1B4244781B0A}" destId="{11D75BDC-4418-4800-8532-ADDE37623E0D}" srcOrd="2" destOrd="0" parTransId="{B843E3ED-712E-435A-90B0-976597BB8226}" sibTransId="{192E3ACE-A5E0-40F5-AF97-D513016D9130}"/>
    <dgm:cxn modelId="{B3C0EF73-5A41-43CC-B44D-0298DB2B8E7B}" type="presOf" srcId="{C46B5E56-8AD4-4E14-84A0-B7805637A676}" destId="{D03A8EFF-DBDF-4073-9590-5E7F18C3BCF2}" srcOrd="0" destOrd="0" presId="urn:microsoft.com/office/officeart/2018/2/layout/IconVerticalSolidList"/>
    <dgm:cxn modelId="{F1204575-68C7-496A-A57B-77AE6E3A6727}" type="presOf" srcId="{86B841B6-E9E1-432D-AC84-1B4244781B0A}" destId="{1237A671-E2E0-4F0E-A357-F028AEA0165B}" srcOrd="0" destOrd="0" presId="urn:microsoft.com/office/officeart/2018/2/layout/IconVerticalSolidList"/>
    <dgm:cxn modelId="{D9EDA483-A2AD-4622-AC36-86B835D9568A}" srcId="{86B841B6-E9E1-432D-AC84-1B4244781B0A}" destId="{34D0D5E4-1992-440B-A7B3-01D84568E5CD}" srcOrd="5" destOrd="0" parTransId="{805B2013-AC6D-4B68-A163-8BCD818AD13D}" sibTransId="{4750975E-7037-4754-97D5-78C58982C002}"/>
    <dgm:cxn modelId="{DDF118A8-8C1D-4BDB-8FA5-437AF35CFDA9}" srcId="{86B841B6-E9E1-432D-AC84-1B4244781B0A}" destId="{B44DDC61-1357-4FF4-B08D-AB8034DADB87}" srcOrd="4" destOrd="0" parTransId="{4C4F1350-9EAD-4C53-9DF2-F695EE1F0FBD}" sibTransId="{A72A80B3-1BC6-41F5-B073-5233FA80CAC3}"/>
    <dgm:cxn modelId="{684E3CB6-918A-499F-B7D5-1F0540D11D36}" type="presOf" srcId="{D1510778-9A33-4A11-A814-F134BCBE1983}" destId="{B235A5D4-491E-480D-A3C8-F803A018F616}" srcOrd="0" destOrd="0" presId="urn:microsoft.com/office/officeart/2018/2/layout/IconVerticalSolidList"/>
    <dgm:cxn modelId="{42B07ABC-99AF-4331-A17D-44A9147076D0}" type="presOf" srcId="{11D75BDC-4418-4800-8532-ADDE37623E0D}" destId="{ABBF8CAC-457D-418C-B8F3-02FAA8B5B60C}" srcOrd="0" destOrd="0" presId="urn:microsoft.com/office/officeart/2018/2/layout/IconVerticalSolidList"/>
    <dgm:cxn modelId="{037215BD-7C17-4530-88D4-9EE66B230E49}" srcId="{86B841B6-E9E1-432D-AC84-1B4244781B0A}" destId="{D1510778-9A33-4A11-A814-F134BCBE1983}" srcOrd="1" destOrd="0" parTransId="{0B69FCAC-25C2-4F31-AC31-782F44B86CD8}" sibTransId="{8C953E6E-86AB-4A5C-8899-612D16DE5FD0}"/>
    <dgm:cxn modelId="{58E53BC7-7B70-419F-BB68-0F9BC33DBD53}" srcId="{86B841B6-E9E1-432D-AC84-1B4244781B0A}" destId="{E77A4DBE-3A69-4F66-8D1B-158DA87FE6D0}" srcOrd="0" destOrd="0" parTransId="{C7716D6E-62AA-41C7-8C1F-47626438E6C6}" sibTransId="{A21ECA57-C688-4943-92E6-91D37B655890}"/>
    <dgm:cxn modelId="{F7711169-5F6A-499E-AF67-42DB8B818785}" type="presParOf" srcId="{1237A671-E2E0-4F0E-A357-F028AEA0165B}" destId="{69004263-37E5-48DF-9829-16C9D896BD5A}" srcOrd="0" destOrd="0" presId="urn:microsoft.com/office/officeart/2018/2/layout/IconVerticalSolidList"/>
    <dgm:cxn modelId="{9F263D4B-F723-4871-9034-75DDC9E01245}" type="presParOf" srcId="{69004263-37E5-48DF-9829-16C9D896BD5A}" destId="{0F6066A8-EB16-47CC-AB98-1F39E468AB98}" srcOrd="0" destOrd="0" presId="urn:microsoft.com/office/officeart/2018/2/layout/IconVerticalSolidList"/>
    <dgm:cxn modelId="{2266262C-CEE5-447E-93AB-D36764C37092}" type="presParOf" srcId="{69004263-37E5-48DF-9829-16C9D896BD5A}" destId="{620A18EF-129D-45DA-94AB-4A634678F83B}" srcOrd="1" destOrd="0" presId="urn:microsoft.com/office/officeart/2018/2/layout/IconVerticalSolidList"/>
    <dgm:cxn modelId="{00EE965F-56DE-40F0-BC88-C8E7B3ACF4A8}" type="presParOf" srcId="{69004263-37E5-48DF-9829-16C9D896BD5A}" destId="{86DA514C-39DC-41B4-9AB8-B0B9E9F6A4E7}" srcOrd="2" destOrd="0" presId="urn:microsoft.com/office/officeart/2018/2/layout/IconVerticalSolidList"/>
    <dgm:cxn modelId="{96529D1C-E7E0-484C-A70B-7B2BF83BD377}" type="presParOf" srcId="{69004263-37E5-48DF-9829-16C9D896BD5A}" destId="{B8CDAA36-88DD-4B0D-9340-39C109054F01}" srcOrd="3" destOrd="0" presId="urn:microsoft.com/office/officeart/2018/2/layout/IconVerticalSolidList"/>
    <dgm:cxn modelId="{F1CCEFC9-2BB9-45DD-8ED8-E3AB0E1FD712}" type="presParOf" srcId="{1237A671-E2E0-4F0E-A357-F028AEA0165B}" destId="{D3FA62ED-8E95-49E0-8F19-6139D8D13E16}" srcOrd="1" destOrd="0" presId="urn:microsoft.com/office/officeart/2018/2/layout/IconVerticalSolidList"/>
    <dgm:cxn modelId="{DDBCA44A-AA24-45A6-90CD-33B1C96F70D1}" type="presParOf" srcId="{1237A671-E2E0-4F0E-A357-F028AEA0165B}" destId="{9E3F93AF-68C7-4043-967C-E2ABF67C2DEB}" srcOrd="2" destOrd="0" presId="urn:microsoft.com/office/officeart/2018/2/layout/IconVerticalSolidList"/>
    <dgm:cxn modelId="{29950F4F-2631-4FBB-B480-3CD179BB4466}" type="presParOf" srcId="{9E3F93AF-68C7-4043-967C-E2ABF67C2DEB}" destId="{34171257-8CE9-49CA-9D74-A3B026B4E43B}" srcOrd="0" destOrd="0" presId="urn:microsoft.com/office/officeart/2018/2/layout/IconVerticalSolidList"/>
    <dgm:cxn modelId="{45CE4A3D-0C63-42E0-8E4E-80CF78C86CAF}" type="presParOf" srcId="{9E3F93AF-68C7-4043-967C-E2ABF67C2DEB}" destId="{D6E1EE47-8B06-489C-A48A-13459C32ECC4}" srcOrd="1" destOrd="0" presId="urn:microsoft.com/office/officeart/2018/2/layout/IconVerticalSolidList"/>
    <dgm:cxn modelId="{FB38FC02-8B50-48D6-A607-D2CC1486B388}" type="presParOf" srcId="{9E3F93AF-68C7-4043-967C-E2ABF67C2DEB}" destId="{4D6B703F-7404-4A54-B7FA-44BF2B823B47}" srcOrd="2" destOrd="0" presId="urn:microsoft.com/office/officeart/2018/2/layout/IconVerticalSolidList"/>
    <dgm:cxn modelId="{1CF0A7A3-D1F9-48BD-A1B7-84A2644E40E9}" type="presParOf" srcId="{9E3F93AF-68C7-4043-967C-E2ABF67C2DEB}" destId="{B235A5D4-491E-480D-A3C8-F803A018F616}" srcOrd="3" destOrd="0" presId="urn:microsoft.com/office/officeart/2018/2/layout/IconVerticalSolidList"/>
    <dgm:cxn modelId="{1E3915A2-E8C3-4E0C-BAAB-B99424426E86}" type="presParOf" srcId="{1237A671-E2E0-4F0E-A357-F028AEA0165B}" destId="{4FDFD4DC-572D-4A95-A013-5E4BC83BB9C3}" srcOrd="3" destOrd="0" presId="urn:microsoft.com/office/officeart/2018/2/layout/IconVerticalSolidList"/>
    <dgm:cxn modelId="{AF75214F-817F-4045-AE3F-FDCFCC524A27}" type="presParOf" srcId="{1237A671-E2E0-4F0E-A357-F028AEA0165B}" destId="{02D33F51-F8C0-4697-966B-04055CCF6150}" srcOrd="4" destOrd="0" presId="urn:microsoft.com/office/officeart/2018/2/layout/IconVerticalSolidList"/>
    <dgm:cxn modelId="{6590828C-38FF-44F8-9AF1-77017B11AE5B}" type="presParOf" srcId="{02D33F51-F8C0-4697-966B-04055CCF6150}" destId="{11C428BB-E28C-4E39-8700-EACCA7C6FC69}" srcOrd="0" destOrd="0" presId="urn:microsoft.com/office/officeart/2018/2/layout/IconVerticalSolidList"/>
    <dgm:cxn modelId="{93B5DD80-9F7E-4585-92A1-9394AB58790B}" type="presParOf" srcId="{02D33F51-F8C0-4697-966B-04055CCF6150}" destId="{95A72738-9391-4EFA-92DB-A9DEC09FB157}" srcOrd="1" destOrd="0" presId="urn:microsoft.com/office/officeart/2018/2/layout/IconVerticalSolidList"/>
    <dgm:cxn modelId="{ADA4EF1A-803A-4C86-BA39-55139EC8B9F7}" type="presParOf" srcId="{02D33F51-F8C0-4697-966B-04055CCF6150}" destId="{209E7C4F-0D5B-40ED-821C-343DD432A7D2}" srcOrd="2" destOrd="0" presId="urn:microsoft.com/office/officeart/2018/2/layout/IconVerticalSolidList"/>
    <dgm:cxn modelId="{F55E5C31-3701-45FF-B1A0-4389DCF0F30A}" type="presParOf" srcId="{02D33F51-F8C0-4697-966B-04055CCF6150}" destId="{ABBF8CAC-457D-418C-B8F3-02FAA8B5B60C}" srcOrd="3" destOrd="0" presId="urn:microsoft.com/office/officeart/2018/2/layout/IconVerticalSolidList"/>
    <dgm:cxn modelId="{B52BEDCE-9846-4097-9E3B-170C1369EA4D}" type="presParOf" srcId="{1237A671-E2E0-4F0E-A357-F028AEA0165B}" destId="{DE5305CA-C210-45D1-A413-5856BBDBC550}" srcOrd="5" destOrd="0" presId="urn:microsoft.com/office/officeart/2018/2/layout/IconVerticalSolidList"/>
    <dgm:cxn modelId="{D1502857-7A30-49FA-BD99-692F58AAA60D}" type="presParOf" srcId="{1237A671-E2E0-4F0E-A357-F028AEA0165B}" destId="{277B8B70-1A4A-481A-B9C0-D6CD30E982D0}" srcOrd="6" destOrd="0" presId="urn:microsoft.com/office/officeart/2018/2/layout/IconVerticalSolidList"/>
    <dgm:cxn modelId="{26AB0BA1-8A53-44B3-A8E9-C10E288A0BAF}" type="presParOf" srcId="{277B8B70-1A4A-481A-B9C0-D6CD30E982D0}" destId="{F907790F-2468-4EA2-A6F3-E7DF3F35E506}" srcOrd="0" destOrd="0" presId="urn:microsoft.com/office/officeart/2018/2/layout/IconVerticalSolidList"/>
    <dgm:cxn modelId="{AB25672F-760A-4DB1-B6ED-DD0067D04580}" type="presParOf" srcId="{277B8B70-1A4A-481A-B9C0-D6CD30E982D0}" destId="{894D80F1-6330-4F34-9752-79AF585CEA76}" srcOrd="1" destOrd="0" presId="urn:microsoft.com/office/officeart/2018/2/layout/IconVerticalSolidList"/>
    <dgm:cxn modelId="{D6733730-5021-4A88-B75A-4547B09C294A}" type="presParOf" srcId="{277B8B70-1A4A-481A-B9C0-D6CD30E982D0}" destId="{5AB160C9-93F8-4B90-979A-83B25899F476}" srcOrd="2" destOrd="0" presId="urn:microsoft.com/office/officeart/2018/2/layout/IconVerticalSolidList"/>
    <dgm:cxn modelId="{AD0BA17E-96ED-44F3-B30B-71D8AE14803C}" type="presParOf" srcId="{277B8B70-1A4A-481A-B9C0-D6CD30E982D0}" destId="{D03A8EFF-DBDF-4073-9590-5E7F18C3BCF2}" srcOrd="3" destOrd="0" presId="urn:microsoft.com/office/officeart/2018/2/layout/IconVerticalSolidList"/>
    <dgm:cxn modelId="{2F68F956-614C-489E-BA2E-A3AA69091DA1}" type="presParOf" srcId="{1237A671-E2E0-4F0E-A357-F028AEA0165B}" destId="{A5A8F788-7DDC-4FEA-B163-F704CB49FCF0}" srcOrd="7" destOrd="0" presId="urn:microsoft.com/office/officeart/2018/2/layout/IconVerticalSolidList"/>
    <dgm:cxn modelId="{B17A73EC-CA6F-43AF-B8C7-1A27F4AFA5A4}" type="presParOf" srcId="{1237A671-E2E0-4F0E-A357-F028AEA0165B}" destId="{6F433170-9C2D-46D9-8A6C-99B370591F92}" srcOrd="8" destOrd="0" presId="urn:microsoft.com/office/officeart/2018/2/layout/IconVerticalSolidList"/>
    <dgm:cxn modelId="{0729D0F1-F2E7-4200-B860-FC72B2059BAE}" type="presParOf" srcId="{6F433170-9C2D-46D9-8A6C-99B370591F92}" destId="{80B79917-4BEA-4BC9-80D6-C7B26EFA54FF}" srcOrd="0" destOrd="0" presId="urn:microsoft.com/office/officeart/2018/2/layout/IconVerticalSolidList"/>
    <dgm:cxn modelId="{C43B2EA6-80F5-40E4-BCFD-615E89847CF2}" type="presParOf" srcId="{6F433170-9C2D-46D9-8A6C-99B370591F92}" destId="{25096B11-9DDE-4BDE-B2AF-CB23A5865374}" srcOrd="1" destOrd="0" presId="urn:microsoft.com/office/officeart/2018/2/layout/IconVerticalSolidList"/>
    <dgm:cxn modelId="{BB520E46-C034-44C9-AAC1-9D52ED1FBFB4}" type="presParOf" srcId="{6F433170-9C2D-46D9-8A6C-99B370591F92}" destId="{F43FAD7F-DB12-4AD5-8BAD-3BC42146B70A}" srcOrd="2" destOrd="0" presId="urn:microsoft.com/office/officeart/2018/2/layout/IconVerticalSolidList"/>
    <dgm:cxn modelId="{9BC9D750-ABE4-46F1-AD09-E08B5630B41F}" type="presParOf" srcId="{6F433170-9C2D-46D9-8A6C-99B370591F92}" destId="{59C5C835-1BFD-4419-880A-0AE52ADB8CA7}" srcOrd="3" destOrd="0" presId="urn:microsoft.com/office/officeart/2018/2/layout/IconVerticalSolidList"/>
    <dgm:cxn modelId="{D9012760-2485-4356-9E2B-B2CBEC00FBBC}" type="presParOf" srcId="{1237A671-E2E0-4F0E-A357-F028AEA0165B}" destId="{D03B234E-8D4A-489E-A488-9344EF0513C9}" srcOrd="9" destOrd="0" presId="urn:microsoft.com/office/officeart/2018/2/layout/IconVerticalSolidList"/>
    <dgm:cxn modelId="{7EADB2C6-0B80-4E0D-876D-1221293B310B}" type="presParOf" srcId="{1237A671-E2E0-4F0E-A357-F028AEA0165B}" destId="{3B6C7F6A-3BCF-49F8-8959-9DA7F4250313}" srcOrd="10" destOrd="0" presId="urn:microsoft.com/office/officeart/2018/2/layout/IconVerticalSolidList"/>
    <dgm:cxn modelId="{FB74D4E2-07F3-4CF4-9B2F-8F017CFA248A}" type="presParOf" srcId="{3B6C7F6A-3BCF-49F8-8959-9DA7F4250313}" destId="{D773F93D-C79D-494D-8BA0-AE92E41BA238}" srcOrd="0" destOrd="0" presId="urn:microsoft.com/office/officeart/2018/2/layout/IconVerticalSolidList"/>
    <dgm:cxn modelId="{711A242B-70A7-4C46-80C7-63E7563DFF29}" type="presParOf" srcId="{3B6C7F6A-3BCF-49F8-8959-9DA7F4250313}" destId="{D3526AEB-379C-43E4-9252-6C215F898059}" srcOrd="1" destOrd="0" presId="urn:microsoft.com/office/officeart/2018/2/layout/IconVerticalSolidList"/>
    <dgm:cxn modelId="{50B59F61-D5BA-4570-89F2-F708D623D944}" type="presParOf" srcId="{3B6C7F6A-3BCF-49F8-8959-9DA7F4250313}" destId="{8E6574A4-851F-4E7E-941A-2A01DA68EE1F}" srcOrd="2" destOrd="0" presId="urn:microsoft.com/office/officeart/2018/2/layout/IconVerticalSolidList"/>
    <dgm:cxn modelId="{5A877B88-159C-4C8B-AC94-330DD303DA54}" type="presParOf" srcId="{3B6C7F6A-3BCF-49F8-8959-9DA7F4250313}" destId="{454A2602-29FA-424F-A854-020D4D9B6A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6B841B6-E9E1-432D-AC84-1B4244781B0A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E77A4DBE-3A69-4F66-8D1B-158DA87FE6D0}">
      <dgm:prSet/>
      <dgm:spPr/>
      <dgm:t>
        <a:bodyPr/>
        <a:lstStyle/>
        <a:p>
          <a:r>
            <a:rPr lang="en-GB"/>
            <a:t>1. Initialize a CMA-ES search distribution around the model's default knob values.</a:t>
          </a:r>
          <a:endParaRPr lang="en-US"/>
        </a:p>
      </dgm:t>
    </dgm:pt>
    <dgm:pt modelId="{C7716D6E-62AA-41C7-8C1F-47626438E6C6}" type="parTrans" cxnId="{58E53BC7-7B70-419F-BB68-0F9BC33DBD53}">
      <dgm:prSet/>
      <dgm:spPr/>
      <dgm:t>
        <a:bodyPr/>
        <a:lstStyle/>
        <a:p>
          <a:endParaRPr lang="en-US"/>
        </a:p>
      </dgm:t>
    </dgm:pt>
    <dgm:pt modelId="{A21ECA57-C688-4943-92E6-91D37B655890}" type="sibTrans" cxnId="{58E53BC7-7B70-419F-BB68-0F9BC33DBD53}">
      <dgm:prSet/>
      <dgm:spPr/>
      <dgm:t>
        <a:bodyPr/>
        <a:lstStyle/>
        <a:p>
          <a:endParaRPr lang="en-US"/>
        </a:p>
      </dgm:t>
    </dgm:pt>
    <dgm:pt modelId="{D1510778-9A33-4A11-A814-F134BCBE1983}">
      <dgm:prSet/>
      <dgm:spPr/>
      <dgm:t>
        <a:bodyPr/>
        <a:lstStyle/>
        <a:p>
          <a:r>
            <a:rPr lang="en-GB"/>
            <a:t>2. Ask for a batch of candidate knob settings from the current distribution.</a:t>
          </a:r>
          <a:endParaRPr lang="en-US"/>
        </a:p>
      </dgm:t>
    </dgm:pt>
    <dgm:pt modelId="{0B69FCAC-25C2-4F31-AC31-782F44B86CD8}" type="parTrans" cxnId="{037215BD-7C17-4530-88D4-9EE66B230E49}">
      <dgm:prSet/>
      <dgm:spPr/>
      <dgm:t>
        <a:bodyPr/>
        <a:lstStyle/>
        <a:p>
          <a:endParaRPr lang="en-US"/>
        </a:p>
      </dgm:t>
    </dgm:pt>
    <dgm:pt modelId="{8C953E6E-86AB-4A5C-8899-612D16DE5FD0}" type="sibTrans" cxnId="{037215BD-7C17-4530-88D4-9EE66B230E49}">
      <dgm:prSet/>
      <dgm:spPr/>
      <dgm:t>
        <a:bodyPr/>
        <a:lstStyle/>
        <a:p>
          <a:endParaRPr lang="en-US"/>
        </a:p>
      </dgm:t>
    </dgm:pt>
    <dgm:pt modelId="{11D75BDC-4418-4800-8532-ADDE37623E0D}">
      <dgm:prSet/>
      <dgm:spPr>
        <a:blipFill>
          <a:blip xmlns:r="http://schemas.openxmlformats.org/officeDocument/2006/relationships" r:embed="rId1"/>
          <a:stretch>
            <a:fillRect l="-867" t="-4819" b="-10843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B843E3ED-712E-435A-90B0-976597BB8226}" type="parTrans" cxnId="{A9C3774B-A404-4FBC-9DC2-4F1613192E58}">
      <dgm:prSet/>
      <dgm:spPr/>
      <dgm:t>
        <a:bodyPr/>
        <a:lstStyle/>
        <a:p>
          <a:endParaRPr lang="en-US"/>
        </a:p>
      </dgm:t>
    </dgm:pt>
    <dgm:pt modelId="{192E3ACE-A5E0-40F5-AF97-D513016D9130}" type="sibTrans" cxnId="{A9C3774B-A404-4FBC-9DC2-4F1613192E58}">
      <dgm:prSet/>
      <dgm:spPr/>
      <dgm:t>
        <a:bodyPr/>
        <a:lstStyle/>
        <a:p>
          <a:endParaRPr lang="en-US"/>
        </a:p>
      </dgm:t>
    </dgm:pt>
    <dgm:pt modelId="{C46B5E56-8AD4-4E14-84A0-B7805637A676}">
      <dgm:prSet/>
      <dgm:spPr/>
      <dgm:t>
        <a:bodyPr/>
        <a:lstStyle/>
        <a:p>
          <a:r>
            <a:rPr lang="en-GB"/>
            <a:t>4. Score each candidate with one of the reward functions defined before.</a:t>
          </a:r>
          <a:endParaRPr lang="en-US"/>
        </a:p>
      </dgm:t>
    </dgm:pt>
    <dgm:pt modelId="{1A3277C2-0D69-4FC0-B39C-6EB01BEA609F}" type="parTrans" cxnId="{5597AC39-894F-49AC-8D8E-67AC01D4A2F0}">
      <dgm:prSet/>
      <dgm:spPr/>
      <dgm:t>
        <a:bodyPr/>
        <a:lstStyle/>
        <a:p>
          <a:endParaRPr lang="en-US"/>
        </a:p>
      </dgm:t>
    </dgm:pt>
    <dgm:pt modelId="{806204A7-20BB-408C-8543-ACA298CB7D00}" type="sibTrans" cxnId="{5597AC39-894F-49AC-8D8E-67AC01D4A2F0}">
      <dgm:prSet/>
      <dgm:spPr/>
      <dgm:t>
        <a:bodyPr/>
        <a:lstStyle/>
        <a:p>
          <a:endParaRPr lang="en-US"/>
        </a:p>
      </dgm:t>
    </dgm:pt>
    <dgm:pt modelId="{B44DDC61-1357-4FF4-B08D-AB8034DADB87}">
      <dgm:prSet/>
      <dgm:spPr/>
      <dgm:t>
        <a:bodyPr/>
        <a:lstStyle/>
        <a:p>
          <a:r>
            <a:rPr lang="en-GB"/>
            <a:t>5. Tell the optimizer the rewards so it updates its sampling distribution.</a:t>
          </a:r>
          <a:endParaRPr lang="en-US"/>
        </a:p>
      </dgm:t>
    </dgm:pt>
    <dgm:pt modelId="{4C4F1350-9EAD-4C53-9DF2-F695EE1F0FBD}" type="parTrans" cxnId="{DDF118A8-8C1D-4BDB-8FA5-437AF35CFDA9}">
      <dgm:prSet/>
      <dgm:spPr/>
      <dgm:t>
        <a:bodyPr/>
        <a:lstStyle/>
        <a:p>
          <a:endParaRPr lang="en-US"/>
        </a:p>
      </dgm:t>
    </dgm:pt>
    <dgm:pt modelId="{A72A80B3-1BC6-41F5-B073-5233FA80CAC3}" type="sibTrans" cxnId="{DDF118A8-8C1D-4BDB-8FA5-437AF35CFDA9}">
      <dgm:prSet/>
      <dgm:spPr/>
      <dgm:t>
        <a:bodyPr/>
        <a:lstStyle/>
        <a:p>
          <a:endParaRPr lang="en-US"/>
        </a:p>
      </dgm:t>
    </dgm:pt>
    <dgm:pt modelId="{34D0D5E4-1992-440B-A7B3-01D84568E5CD}">
      <dgm:prSet/>
      <dgm:spPr>
        <a:blipFill>
          <a:blip xmlns:r="http://schemas.openxmlformats.org/officeDocument/2006/relationships" r:embed="rId2"/>
          <a:stretch>
            <a:fillRect l="-867"/>
          </a:stretch>
        </a:blipFill>
      </dgm:spPr>
      <dgm:t>
        <a:bodyPr/>
        <a:lstStyle/>
        <a:p>
          <a:r>
            <a:rPr lang="en-US">
              <a:noFill/>
            </a:rPr>
            <a:t> </a:t>
          </a:r>
        </a:p>
      </dgm:t>
    </dgm:pt>
    <dgm:pt modelId="{805B2013-AC6D-4B68-A163-8BCD818AD13D}" type="parTrans" cxnId="{D9EDA483-A2AD-4622-AC36-86B835D9568A}">
      <dgm:prSet/>
      <dgm:spPr/>
      <dgm:t>
        <a:bodyPr/>
        <a:lstStyle/>
        <a:p>
          <a:endParaRPr lang="en-US"/>
        </a:p>
      </dgm:t>
    </dgm:pt>
    <dgm:pt modelId="{4750975E-7037-4754-97D5-78C58982C002}" type="sibTrans" cxnId="{D9EDA483-A2AD-4622-AC36-86B835D9568A}">
      <dgm:prSet/>
      <dgm:spPr/>
      <dgm:t>
        <a:bodyPr/>
        <a:lstStyle/>
        <a:p>
          <a:endParaRPr lang="en-US"/>
        </a:p>
      </dgm:t>
    </dgm:pt>
    <dgm:pt modelId="{1237A671-E2E0-4F0E-A357-F028AEA0165B}" type="pres">
      <dgm:prSet presAssocID="{86B841B6-E9E1-432D-AC84-1B4244781B0A}" presName="root" presStyleCnt="0">
        <dgm:presLayoutVars>
          <dgm:dir/>
          <dgm:resizeHandles val="exact"/>
        </dgm:presLayoutVars>
      </dgm:prSet>
      <dgm:spPr/>
    </dgm:pt>
    <dgm:pt modelId="{69004263-37E5-48DF-9829-16C9D896BD5A}" type="pres">
      <dgm:prSet presAssocID="{E77A4DBE-3A69-4F66-8D1B-158DA87FE6D0}" presName="compNode" presStyleCnt="0"/>
      <dgm:spPr/>
    </dgm:pt>
    <dgm:pt modelId="{0F6066A8-EB16-47CC-AB98-1F39E468AB98}" type="pres">
      <dgm:prSet presAssocID="{E77A4DBE-3A69-4F66-8D1B-158DA87FE6D0}" presName="bgRect" presStyleLbl="bgShp" presStyleIdx="0" presStyleCnt="6"/>
      <dgm:spPr/>
    </dgm:pt>
    <dgm:pt modelId="{620A18EF-129D-45DA-94AB-4A634678F83B}" type="pres">
      <dgm:prSet presAssocID="{E77A4DBE-3A69-4F66-8D1B-158DA87FE6D0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rsor"/>
        </a:ext>
      </dgm:extLst>
    </dgm:pt>
    <dgm:pt modelId="{86DA514C-39DC-41B4-9AB8-B0B9E9F6A4E7}" type="pres">
      <dgm:prSet presAssocID="{E77A4DBE-3A69-4F66-8D1B-158DA87FE6D0}" presName="spaceRect" presStyleCnt="0"/>
      <dgm:spPr/>
    </dgm:pt>
    <dgm:pt modelId="{B8CDAA36-88DD-4B0D-9340-39C109054F01}" type="pres">
      <dgm:prSet presAssocID="{E77A4DBE-3A69-4F66-8D1B-158DA87FE6D0}" presName="parTx" presStyleLbl="revTx" presStyleIdx="0" presStyleCnt="6">
        <dgm:presLayoutVars>
          <dgm:chMax val="0"/>
          <dgm:chPref val="0"/>
        </dgm:presLayoutVars>
      </dgm:prSet>
      <dgm:spPr/>
    </dgm:pt>
    <dgm:pt modelId="{D3FA62ED-8E95-49E0-8F19-6139D8D13E16}" type="pres">
      <dgm:prSet presAssocID="{A21ECA57-C688-4943-92E6-91D37B655890}" presName="sibTrans" presStyleCnt="0"/>
      <dgm:spPr/>
    </dgm:pt>
    <dgm:pt modelId="{9E3F93AF-68C7-4043-967C-E2ABF67C2DEB}" type="pres">
      <dgm:prSet presAssocID="{D1510778-9A33-4A11-A814-F134BCBE1983}" presName="compNode" presStyleCnt="0"/>
      <dgm:spPr/>
    </dgm:pt>
    <dgm:pt modelId="{34171257-8CE9-49CA-9D74-A3B026B4E43B}" type="pres">
      <dgm:prSet presAssocID="{D1510778-9A33-4A11-A814-F134BCBE1983}" presName="bgRect" presStyleLbl="bgShp" presStyleIdx="1" presStyleCnt="6"/>
      <dgm:spPr/>
    </dgm:pt>
    <dgm:pt modelId="{D6E1EE47-8B06-489C-A48A-13459C32ECC4}" type="pres">
      <dgm:prSet presAssocID="{D1510778-9A33-4A11-A814-F134BCBE1983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owser Window"/>
        </a:ext>
      </dgm:extLst>
    </dgm:pt>
    <dgm:pt modelId="{4D6B703F-7404-4A54-B7FA-44BF2B823B47}" type="pres">
      <dgm:prSet presAssocID="{D1510778-9A33-4A11-A814-F134BCBE1983}" presName="spaceRect" presStyleCnt="0"/>
      <dgm:spPr/>
    </dgm:pt>
    <dgm:pt modelId="{B235A5D4-491E-480D-A3C8-F803A018F616}" type="pres">
      <dgm:prSet presAssocID="{D1510778-9A33-4A11-A814-F134BCBE1983}" presName="parTx" presStyleLbl="revTx" presStyleIdx="1" presStyleCnt="6">
        <dgm:presLayoutVars>
          <dgm:chMax val="0"/>
          <dgm:chPref val="0"/>
        </dgm:presLayoutVars>
      </dgm:prSet>
      <dgm:spPr/>
    </dgm:pt>
    <dgm:pt modelId="{4FDFD4DC-572D-4A95-A013-5E4BC83BB9C3}" type="pres">
      <dgm:prSet presAssocID="{8C953E6E-86AB-4A5C-8899-612D16DE5FD0}" presName="sibTrans" presStyleCnt="0"/>
      <dgm:spPr/>
    </dgm:pt>
    <dgm:pt modelId="{02D33F51-F8C0-4697-966B-04055CCF6150}" type="pres">
      <dgm:prSet presAssocID="{11D75BDC-4418-4800-8532-ADDE37623E0D}" presName="compNode" presStyleCnt="0"/>
      <dgm:spPr/>
    </dgm:pt>
    <dgm:pt modelId="{11C428BB-E28C-4E39-8700-EACCA7C6FC69}" type="pres">
      <dgm:prSet presAssocID="{11D75BDC-4418-4800-8532-ADDE37623E0D}" presName="bgRect" presStyleLbl="bgShp" presStyleIdx="2" presStyleCnt="6"/>
      <dgm:spPr/>
    </dgm:pt>
    <dgm:pt modelId="{95A72738-9391-4EFA-92DB-A9DEC09FB157}" type="pres">
      <dgm:prSet presAssocID="{11D75BDC-4418-4800-8532-ADDE37623E0D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209E7C4F-0D5B-40ED-821C-343DD432A7D2}" type="pres">
      <dgm:prSet presAssocID="{11D75BDC-4418-4800-8532-ADDE37623E0D}" presName="spaceRect" presStyleCnt="0"/>
      <dgm:spPr/>
    </dgm:pt>
    <dgm:pt modelId="{ABBF8CAC-457D-418C-B8F3-02FAA8B5B60C}" type="pres">
      <dgm:prSet presAssocID="{11D75BDC-4418-4800-8532-ADDE37623E0D}" presName="parTx" presStyleLbl="revTx" presStyleIdx="2" presStyleCnt="6">
        <dgm:presLayoutVars>
          <dgm:chMax val="0"/>
          <dgm:chPref val="0"/>
        </dgm:presLayoutVars>
      </dgm:prSet>
      <dgm:spPr/>
    </dgm:pt>
    <dgm:pt modelId="{DE5305CA-C210-45D1-A413-5856BBDBC550}" type="pres">
      <dgm:prSet presAssocID="{192E3ACE-A5E0-40F5-AF97-D513016D9130}" presName="sibTrans" presStyleCnt="0"/>
      <dgm:spPr/>
    </dgm:pt>
    <dgm:pt modelId="{277B8B70-1A4A-481A-B9C0-D6CD30E982D0}" type="pres">
      <dgm:prSet presAssocID="{C46B5E56-8AD4-4E14-84A0-B7805637A676}" presName="compNode" presStyleCnt="0"/>
      <dgm:spPr/>
    </dgm:pt>
    <dgm:pt modelId="{F907790F-2468-4EA2-A6F3-E7DF3F35E506}" type="pres">
      <dgm:prSet presAssocID="{C46B5E56-8AD4-4E14-84A0-B7805637A676}" presName="bgRect" presStyleLbl="bgShp" presStyleIdx="3" presStyleCnt="6"/>
      <dgm:spPr/>
    </dgm:pt>
    <dgm:pt modelId="{894D80F1-6330-4F34-9752-79AF585CEA76}" type="pres">
      <dgm:prSet presAssocID="{C46B5E56-8AD4-4E14-84A0-B7805637A676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nching Diagram"/>
        </a:ext>
      </dgm:extLst>
    </dgm:pt>
    <dgm:pt modelId="{5AB160C9-93F8-4B90-979A-83B25899F476}" type="pres">
      <dgm:prSet presAssocID="{C46B5E56-8AD4-4E14-84A0-B7805637A676}" presName="spaceRect" presStyleCnt="0"/>
      <dgm:spPr/>
    </dgm:pt>
    <dgm:pt modelId="{D03A8EFF-DBDF-4073-9590-5E7F18C3BCF2}" type="pres">
      <dgm:prSet presAssocID="{C46B5E56-8AD4-4E14-84A0-B7805637A676}" presName="parTx" presStyleLbl="revTx" presStyleIdx="3" presStyleCnt="6">
        <dgm:presLayoutVars>
          <dgm:chMax val="0"/>
          <dgm:chPref val="0"/>
        </dgm:presLayoutVars>
      </dgm:prSet>
      <dgm:spPr/>
    </dgm:pt>
    <dgm:pt modelId="{A5A8F788-7DDC-4FEA-B163-F704CB49FCF0}" type="pres">
      <dgm:prSet presAssocID="{806204A7-20BB-408C-8543-ACA298CB7D00}" presName="sibTrans" presStyleCnt="0"/>
      <dgm:spPr/>
    </dgm:pt>
    <dgm:pt modelId="{6F433170-9C2D-46D9-8A6C-99B370591F92}" type="pres">
      <dgm:prSet presAssocID="{B44DDC61-1357-4FF4-B08D-AB8034DADB87}" presName="compNode" presStyleCnt="0"/>
      <dgm:spPr/>
    </dgm:pt>
    <dgm:pt modelId="{80B79917-4BEA-4BC9-80D6-C7B26EFA54FF}" type="pres">
      <dgm:prSet presAssocID="{B44DDC61-1357-4FF4-B08D-AB8034DADB87}" presName="bgRect" presStyleLbl="bgShp" presStyleIdx="4" presStyleCnt="6"/>
      <dgm:spPr/>
    </dgm:pt>
    <dgm:pt modelId="{25096B11-9DDE-4BDE-B2AF-CB23A5865374}" type="pres">
      <dgm:prSet presAssocID="{B44DDC61-1357-4FF4-B08D-AB8034DADB87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F43FAD7F-DB12-4AD5-8BAD-3BC42146B70A}" type="pres">
      <dgm:prSet presAssocID="{B44DDC61-1357-4FF4-B08D-AB8034DADB87}" presName="spaceRect" presStyleCnt="0"/>
      <dgm:spPr/>
    </dgm:pt>
    <dgm:pt modelId="{59C5C835-1BFD-4419-880A-0AE52ADB8CA7}" type="pres">
      <dgm:prSet presAssocID="{B44DDC61-1357-4FF4-B08D-AB8034DADB87}" presName="parTx" presStyleLbl="revTx" presStyleIdx="4" presStyleCnt="6">
        <dgm:presLayoutVars>
          <dgm:chMax val="0"/>
          <dgm:chPref val="0"/>
        </dgm:presLayoutVars>
      </dgm:prSet>
      <dgm:spPr/>
    </dgm:pt>
    <dgm:pt modelId="{D03B234E-8D4A-489E-A488-9344EF0513C9}" type="pres">
      <dgm:prSet presAssocID="{A72A80B3-1BC6-41F5-B073-5233FA80CAC3}" presName="sibTrans" presStyleCnt="0"/>
      <dgm:spPr/>
    </dgm:pt>
    <dgm:pt modelId="{3B6C7F6A-3BCF-49F8-8959-9DA7F4250313}" type="pres">
      <dgm:prSet presAssocID="{34D0D5E4-1992-440B-A7B3-01D84568E5CD}" presName="compNode" presStyleCnt="0"/>
      <dgm:spPr/>
    </dgm:pt>
    <dgm:pt modelId="{D773F93D-C79D-494D-8BA0-AE92E41BA238}" type="pres">
      <dgm:prSet presAssocID="{34D0D5E4-1992-440B-A7B3-01D84568E5CD}" presName="bgRect" presStyleLbl="bgShp" presStyleIdx="5" presStyleCnt="6"/>
      <dgm:spPr/>
    </dgm:pt>
    <dgm:pt modelId="{D3526AEB-379C-43E4-9252-6C215F898059}" type="pres">
      <dgm:prSet presAssocID="{34D0D5E4-1992-440B-A7B3-01D84568E5CD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oom Out"/>
        </a:ext>
      </dgm:extLst>
    </dgm:pt>
    <dgm:pt modelId="{8E6574A4-851F-4E7E-941A-2A01DA68EE1F}" type="pres">
      <dgm:prSet presAssocID="{34D0D5E4-1992-440B-A7B3-01D84568E5CD}" presName="spaceRect" presStyleCnt="0"/>
      <dgm:spPr/>
    </dgm:pt>
    <dgm:pt modelId="{454A2602-29FA-424F-A854-020D4D9B6A43}" type="pres">
      <dgm:prSet presAssocID="{34D0D5E4-1992-440B-A7B3-01D84568E5CD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B1640113-AD74-46F9-8737-3289135D26ED}" type="presOf" srcId="{E77A4DBE-3A69-4F66-8D1B-158DA87FE6D0}" destId="{B8CDAA36-88DD-4B0D-9340-39C109054F01}" srcOrd="0" destOrd="0" presId="urn:microsoft.com/office/officeart/2018/2/layout/IconVerticalSolidList"/>
    <dgm:cxn modelId="{4C83B52D-3309-42FD-92FB-98D8EE65710E}" type="presOf" srcId="{34D0D5E4-1992-440B-A7B3-01D84568E5CD}" destId="{454A2602-29FA-424F-A854-020D4D9B6A43}" srcOrd="0" destOrd="0" presId="urn:microsoft.com/office/officeart/2018/2/layout/IconVerticalSolidList"/>
    <dgm:cxn modelId="{C9ECC531-80E7-45F6-B7CF-31DE6641A821}" type="presOf" srcId="{B44DDC61-1357-4FF4-B08D-AB8034DADB87}" destId="{59C5C835-1BFD-4419-880A-0AE52ADB8CA7}" srcOrd="0" destOrd="0" presId="urn:microsoft.com/office/officeart/2018/2/layout/IconVerticalSolidList"/>
    <dgm:cxn modelId="{5597AC39-894F-49AC-8D8E-67AC01D4A2F0}" srcId="{86B841B6-E9E1-432D-AC84-1B4244781B0A}" destId="{C46B5E56-8AD4-4E14-84A0-B7805637A676}" srcOrd="3" destOrd="0" parTransId="{1A3277C2-0D69-4FC0-B39C-6EB01BEA609F}" sibTransId="{806204A7-20BB-408C-8543-ACA298CB7D00}"/>
    <dgm:cxn modelId="{A9C3774B-A404-4FBC-9DC2-4F1613192E58}" srcId="{86B841B6-E9E1-432D-AC84-1B4244781B0A}" destId="{11D75BDC-4418-4800-8532-ADDE37623E0D}" srcOrd="2" destOrd="0" parTransId="{B843E3ED-712E-435A-90B0-976597BB8226}" sibTransId="{192E3ACE-A5E0-40F5-AF97-D513016D9130}"/>
    <dgm:cxn modelId="{B3C0EF73-5A41-43CC-B44D-0298DB2B8E7B}" type="presOf" srcId="{C46B5E56-8AD4-4E14-84A0-B7805637A676}" destId="{D03A8EFF-DBDF-4073-9590-5E7F18C3BCF2}" srcOrd="0" destOrd="0" presId="urn:microsoft.com/office/officeart/2018/2/layout/IconVerticalSolidList"/>
    <dgm:cxn modelId="{F1204575-68C7-496A-A57B-77AE6E3A6727}" type="presOf" srcId="{86B841B6-E9E1-432D-AC84-1B4244781B0A}" destId="{1237A671-E2E0-4F0E-A357-F028AEA0165B}" srcOrd="0" destOrd="0" presId="urn:microsoft.com/office/officeart/2018/2/layout/IconVerticalSolidList"/>
    <dgm:cxn modelId="{D9EDA483-A2AD-4622-AC36-86B835D9568A}" srcId="{86B841B6-E9E1-432D-AC84-1B4244781B0A}" destId="{34D0D5E4-1992-440B-A7B3-01D84568E5CD}" srcOrd="5" destOrd="0" parTransId="{805B2013-AC6D-4B68-A163-8BCD818AD13D}" sibTransId="{4750975E-7037-4754-97D5-78C58982C002}"/>
    <dgm:cxn modelId="{DDF118A8-8C1D-4BDB-8FA5-437AF35CFDA9}" srcId="{86B841B6-E9E1-432D-AC84-1B4244781B0A}" destId="{B44DDC61-1357-4FF4-B08D-AB8034DADB87}" srcOrd="4" destOrd="0" parTransId="{4C4F1350-9EAD-4C53-9DF2-F695EE1F0FBD}" sibTransId="{A72A80B3-1BC6-41F5-B073-5233FA80CAC3}"/>
    <dgm:cxn modelId="{684E3CB6-918A-499F-B7D5-1F0540D11D36}" type="presOf" srcId="{D1510778-9A33-4A11-A814-F134BCBE1983}" destId="{B235A5D4-491E-480D-A3C8-F803A018F616}" srcOrd="0" destOrd="0" presId="urn:microsoft.com/office/officeart/2018/2/layout/IconVerticalSolidList"/>
    <dgm:cxn modelId="{42B07ABC-99AF-4331-A17D-44A9147076D0}" type="presOf" srcId="{11D75BDC-4418-4800-8532-ADDE37623E0D}" destId="{ABBF8CAC-457D-418C-B8F3-02FAA8B5B60C}" srcOrd="0" destOrd="0" presId="urn:microsoft.com/office/officeart/2018/2/layout/IconVerticalSolidList"/>
    <dgm:cxn modelId="{037215BD-7C17-4530-88D4-9EE66B230E49}" srcId="{86B841B6-E9E1-432D-AC84-1B4244781B0A}" destId="{D1510778-9A33-4A11-A814-F134BCBE1983}" srcOrd="1" destOrd="0" parTransId="{0B69FCAC-25C2-4F31-AC31-782F44B86CD8}" sibTransId="{8C953E6E-86AB-4A5C-8899-612D16DE5FD0}"/>
    <dgm:cxn modelId="{58E53BC7-7B70-419F-BB68-0F9BC33DBD53}" srcId="{86B841B6-E9E1-432D-AC84-1B4244781B0A}" destId="{E77A4DBE-3A69-4F66-8D1B-158DA87FE6D0}" srcOrd="0" destOrd="0" parTransId="{C7716D6E-62AA-41C7-8C1F-47626438E6C6}" sibTransId="{A21ECA57-C688-4943-92E6-91D37B655890}"/>
    <dgm:cxn modelId="{F7711169-5F6A-499E-AF67-42DB8B818785}" type="presParOf" srcId="{1237A671-E2E0-4F0E-A357-F028AEA0165B}" destId="{69004263-37E5-48DF-9829-16C9D896BD5A}" srcOrd="0" destOrd="0" presId="urn:microsoft.com/office/officeart/2018/2/layout/IconVerticalSolidList"/>
    <dgm:cxn modelId="{9F263D4B-F723-4871-9034-75DDC9E01245}" type="presParOf" srcId="{69004263-37E5-48DF-9829-16C9D896BD5A}" destId="{0F6066A8-EB16-47CC-AB98-1F39E468AB98}" srcOrd="0" destOrd="0" presId="urn:microsoft.com/office/officeart/2018/2/layout/IconVerticalSolidList"/>
    <dgm:cxn modelId="{2266262C-CEE5-447E-93AB-D36764C37092}" type="presParOf" srcId="{69004263-37E5-48DF-9829-16C9D896BD5A}" destId="{620A18EF-129D-45DA-94AB-4A634678F83B}" srcOrd="1" destOrd="0" presId="urn:microsoft.com/office/officeart/2018/2/layout/IconVerticalSolidList"/>
    <dgm:cxn modelId="{00EE965F-56DE-40F0-BC88-C8E7B3ACF4A8}" type="presParOf" srcId="{69004263-37E5-48DF-9829-16C9D896BD5A}" destId="{86DA514C-39DC-41B4-9AB8-B0B9E9F6A4E7}" srcOrd="2" destOrd="0" presId="urn:microsoft.com/office/officeart/2018/2/layout/IconVerticalSolidList"/>
    <dgm:cxn modelId="{96529D1C-E7E0-484C-A70B-7B2BF83BD377}" type="presParOf" srcId="{69004263-37E5-48DF-9829-16C9D896BD5A}" destId="{B8CDAA36-88DD-4B0D-9340-39C109054F01}" srcOrd="3" destOrd="0" presId="urn:microsoft.com/office/officeart/2018/2/layout/IconVerticalSolidList"/>
    <dgm:cxn modelId="{F1CCEFC9-2BB9-45DD-8ED8-E3AB0E1FD712}" type="presParOf" srcId="{1237A671-E2E0-4F0E-A357-F028AEA0165B}" destId="{D3FA62ED-8E95-49E0-8F19-6139D8D13E16}" srcOrd="1" destOrd="0" presId="urn:microsoft.com/office/officeart/2018/2/layout/IconVerticalSolidList"/>
    <dgm:cxn modelId="{DDBCA44A-AA24-45A6-90CD-33B1C96F70D1}" type="presParOf" srcId="{1237A671-E2E0-4F0E-A357-F028AEA0165B}" destId="{9E3F93AF-68C7-4043-967C-E2ABF67C2DEB}" srcOrd="2" destOrd="0" presId="urn:microsoft.com/office/officeart/2018/2/layout/IconVerticalSolidList"/>
    <dgm:cxn modelId="{29950F4F-2631-4FBB-B480-3CD179BB4466}" type="presParOf" srcId="{9E3F93AF-68C7-4043-967C-E2ABF67C2DEB}" destId="{34171257-8CE9-49CA-9D74-A3B026B4E43B}" srcOrd="0" destOrd="0" presId="urn:microsoft.com/office/officeart/2018/2/layout/IconVerticalSolidList"/>
    <dgm:cxn modelId="{45CE4A3D-0C63-42E0-8E4E-80CF78C86CAF}" type="presParOf" srcId="{9E3F93AF-68C7-4043-967C-E2ABF67C2DEB}" destId="{D6E1EE47-8B06-489C-A48A-13459C32ECC4}" srcOrd="1" destOrd="0" presId="urn:microsoft.com/office/officeart/2018/2/layout/IconVerticalSolidList"/>
    <dgm:cxn modelId="{FB38FC02-8B50-48D6-A607-D2CC1486B388}" type="presParOf" srcId="{9E3F93AF-68C7-4043-967C-E2ABF67C2DEB}" destId="{4D6B703F-7404-4A54-B7FA-44BF2B823B47}" srcOrd="2" destOrd="0" presId="urn:microsoft.com/office/officeart/2018/2/layout/IconVerticalSolidList"/>
    <dgm:cxn modelId="{1CF0A7A3-D1F9-48BD-A1B7-84A2644E40E9}" type="presParOf" srcId="{9E3F93AF-68C7-4043-967C-E2ABF67C2DEB}" destId="{B235A5D4-491E-480D-A3C8-F803A018F616}" srcOrd="3" destOrd="0" presId="urn:microsoft.com/office/officeart/2018/2/layout/IconVerticalSolidList"/>
    <dgm:cxn modelId="{1E3915A2-E8C3-4E0C-BAAB-B99424426E86}" type="presParOf" srcId="{1237A671-E2E0-4F0E-A357-F028AEA0165B}" destId="{4FDFD4DC-572D-4A95-A013-5E4BC83BB9C3}" srcOrd="3" destOrd="0" presId="urn:microsoft.com/office/officeart/2018/2/layout/IconVerticalSolidList"/>
    <dgm:cxn modelId="{AF75214F-817F-4045-AE3F-FDCFCC524A27}" type="presParOf" srcId="{1237A671-E2E0-4F0E-A357-F028AEA0165B}" destId="{02D33F51-F8C0-4697-966B-04055CCF6150}" srcOrd="4" destOrd="0" presId="urn:microsoft.com/office/officeart/2018/2/layout/IconVerticalSolidList"/>
    <dgm:cxn modelId="{6590828C-38FF-44F8-9AF1-77017B11AE5B}" type="presParOf" srcId="{02D33F51-F8C0-4697-966B-04055CCF6150}" destId="{11C428BB-E28C-4E39-8700-EACCA7C6FC69}" srcOrd="0" destOrd="0" presId="urn:microsoft.com/office/officeart/2018/2/layout/IconVerticalSolidList"/>
    <dgm:cxn modelId="{93B5DD80-9F7E-4585-92A1-9394AB58790B}" type="presParOf" srcId="{02D33F51-F8C0-4697-966B-04055CCF6150}" destId="{95A72738-9391-4EFA-92DB-A9DEC09FB157}" srcOrd="1" destOrd="0" presId="urn:microsoft.com/office/officeart/2018/2/layout/IconVerticalSolidList"/>
    <dgm:cxn modelId="{ADA4EF1A-803A-4C86-BA39-55139EC8B9F7}" type="presParOf" srcId="{02D33F51-F8C0-4697-966B-04055CCF6150}" destId="{209E7C4F-0D5B-40ED-821C-343DD432A7D2}" srcOrd="2" destOrd="0" presId="urn:microsoft.com/office/officeart/2018/2/layout/IconVerticalSolidList"/>
    <dgm:cxn modelId="{F55E5C31-3701-45FF-B1A0-4389DCF0F30A}" type="presParOf" srcId="{02D33F51-F8C0-4697-966B-04055CCF6150}" destId="{ABBF8CAC-457D-418C-B8F3-02FAA8B5B60C}" srcOrd="3" destOrd="0" presId="urn:microsoft.com/office/officeart/2018/2/layout/IconVerticalSolidList"/>
    <dgm:cxn modelId="{B52BEDCE-9846-4097-9E3B-170C1369EA4D}" type="presParOf" srcId="{1237A671-E2E0-4F0E-A357-F028AEA0165B}" destId="{DE5305CA-C210-45D1-A413-5856BBDBC550}" srcOrd="5" destOrd="0" presId="urn:microsoft.com/office/officeart/2018/2/layout/IconVerticalSolidList"/>
    <dgm:cxn modelId="{D1502857-7A30-49FA-BD99-692F58AAA60D}" type="presParOf" srcId="{1237A671-E2E0-4F0E-A357-F028AEA0165B}" destId="{277B8B70-1A4A-481A-B9C0-D6CD30E982D0}" srcOrd="6" destOrd="0" presId="urn:microsoft.com/office/officeart/2018/2/layout/IconVerticalSolidList"/>
    <dgm:cxn modelId="{26AB0BA1-8A53-44B3-A8E9-C10E288A0BAF}" type="presParOf" srcId="{277B8B70-1A4A-481A-B9C0-D6CD30E982D0}" destId="{F907790F-2468-4EA2-A6F3-E7DF3F35E506}" srcOrd="0" destOrd="0" presId="urn:microsoft.com/office/officeart/2018/2/layout/IconVerticalSolidList"/>
    <dgm:cxn modelId="{AB25672F-760A-4DB1-B6ED-DD0067D04580}" type="presParOf" srcId="{277B8B70-1A4A-481A-B9C0-D6CD30E982D0}" destId="{894D80F1-6330-4F34-9752-79AF585CEA76}" srcOrd="1" destOrd="0" presId="urn:microsoft.com/office/officeart/2018/2/layout/IconVerticalSolidList"/>
    <dgm:cxn modelId="{D6733730-5021-4A88-B75A-4547B09C294A}" type="presParOf" srcId="{277B8B70-1A4A-481A-B9C0-D6CD30E982D0}" destId="{5AB160C9-93F8-4B90-979A-83B25899F476}" srcOrd="2" destOrd="0" presId="urn:microsoft.com/office/officeart/2018/2/layout/IconVerticalSolidList"/>
    <dgm:cxn modelId="{AD0BA17E-96ED-44F3-B30B-71D8AE14803C}" type="presParOf" srcId="{277B8B70-1A4A-481A-B9C0-D6CD30E982D0}" destId="{D03A8EFF-DBDF-4073-9590-5E7F18C3BCF2}" srcOrd="3" destOrd="0" presId="urn:microsoft.com/office/officeart/2018/2/layout/IconVerticalSolidList"/>
    <dgm:cxn modelId="{2F68F956-614C-489E-BA2E-A3AA69091DA1}" type="presParOf" srcId="{1237A671-E2E0-4F0E-A357-F028AEA0165B}" destId="{A5A8F788-7DDC-4FEA-B163-F704CB49FCF0}" srcOrd="7" destOrd="0" presId="urn:microsoft.com/office/officeart/2018/2/layout/IconVerticalSolidList"/>
    <dgm:cxn modelId="{B17A73EC-CA6F-43AF-B8C7-1A27F4AFA5A4}" type="presParOf" srcId="{1237A671-E2E0-4F0E-A357-F028AEA0165B}" destId="{6F433170-9C2D-46D9-8A6C-99B370591F92}" srcOrd="8" destOrd="0" presId="urn:microsoft.com/office/officeart/2018/2/layout/IconVerticalSolidList"/>
    <dgm:cxn modelId="{0729D0F1-F2E7-4200-B860-FC72B2059BAE}" type="presParOf" srcId="{6F433170-9C2D-46D9-8A6C-99B370591F92}" destId="{80B79917-4BEA-4BC9-80D6-C7B26EFA54FF}" srcOrd="0" destOrd="0" presId="urn:microsoft.com/office/officeart/2018/2/layout/IconVerticalSolidList"/>
    <dgm:cxn modelId="{C43B2EA6-80F5-40E4-BCFD-615E89847CF2}" type="presParOf" srcId="{6F433170-9C2D-46D9-8A6C-99B370591F92}" destId="{25096B11-9DDE-4BDE-B2AF-CB23A5865374}" srcOrd="1" destOrd="0" presId="urn:microsoft.com/office/officeart/2018/2/layout/IconVerticalSolidList"/>
    <dgm:cxn modelId="{BB520E46-C034-44C9-AAC1-9D52ED1FBFB4}" type="presParOf" srcId="{6F433170-9C2D-46D9-8A6C-99B370591F92}" destId="{F43FAD7F-DB12-4AD5-8BAD-3BC42146B70A}" srcOrd="2" destOrd="0" presId="urn:microsoft.com/office/officeart/2018/2/layout/IconVerticalSolidList"/>
    <dgm:cxn modelId="{9BC9D750-ABE4-46F1-AD09-E08B5630B41F}" type="presParOf" srcId="{6F433170-9C2D-46D9-8A6C-99B370591F92}" destId="{59C5C835-1BFD-4419-880A-0AE52ADB8CA7}" srcOrd="3" destOrd="0" presId="urn:microsoft.com/office/officeart/2018/2/layout/IconVerticalSolidList"/>
    <dgm:cxn modelId="{D9012760-2485-4356-9E2B-B2CBEC00FBBC}" type="presParOf" srcId="{1237A671-E2E0-4F0E-A357-F028AEA0165B}" destId="{D03B234E-8D4A-489E-A488-9344EF0513C9}" srcOrd="9" destOrd="0" presId="urn:microsoft.com/office/officeart/2018/2/layout/IconVerticalSolidList"/>
    <dgm:cxn modelId="{7EADB2C6-0B80-4E0D-876D-1221293B310B}" type="presParOf" srcId="{1237A671-E2E0-4F0E-A357-F028AEA0165B}" destId="{3B6C7F6A-3BCF-49F8-8959-9DA7F4250313}" srcOrd="10" destOrd="0" presId="urn:microsoft.com/office/officeart/2018/2/layout/IconVerticalSolidList"/>
    <dgm:cxn modelId="{FB74D4E2-07F3-4CF4-9B2F-8F017CFA248A}" type="presParOf" srcId="{3B6C7F6A-3BCF-49F8-8959-9DA7F4250313}" destId="{D773F93D-C79D-494D-8BA0-AE92E41BA238}" srcOrd="0" destOrd="0" presId="urn:microsoft.com/office/officeart/2018/2/layout/IconVerticalSolidList"/>
    <dgm:cxn modelId="{711A242B-70A7-4C46-80C7-63E7563DFF29}" type="presParOf" srcId="{3B6C7F6A-3BCF-49F8-8959-9DA7F4250313}" destId="{D3526AEB-379C-43E4-9252-6C215F898059}" srcOrd="1" destOrd="0" presId="urn:microsoft.com/office/officeart/2018/2/layout/IconVerticalSolidList"/>
    <dgm:cxn modelId="{50B59F61-D5BA-4570-89F2-F708D623D944}" type="presParOf" srcId="{3B6C7F6A-3BCF-49F8-8959-9DA7F4250313}" destId="{8E6574A4-851F-4E7E-941A-2A01DA68EE1F}" srcOrd="2" destOrd="0" presId="urn:microsoft.com/office/officeart/2018/2/layout/IconVerticalSolidList"/>
    <dgm:cxn modelId="{5A877B88-159C-4C8B-AC94-330DD303DA54}" type="presParOf" srcId="{3B6C7F6A-3BCF-49F8-8959-9DA7F4250313}" destId="{454A2602-29FA-424F-A854-020D4D9B6A4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6066A8-EB16-47CC-AB98-1F39E468AB98}">
      <dsp:nvSpPr>
        <dsp:cNvPr id="0" name=""/>
        <dsp:cNvSpPr/>
      </dsp:nvSpPr>
      <dsp:spPr>
        <a:xfrm>
          <a:off x="0" y="1195"/>
          <a:ext cx="7626096" cy="509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0A18EF-129D-45DA-94AB-4A634678F83B}">
      <dsp:nvSpPr>
        <dsp:cNvPr id="0" name=""/>
        <dsp:cNvSpPr/>
      </dsp:nvSpPr>
      <dsp:spPr>
        <a:xfrm>
          <a:off x="154036" y="115767"/>
          <a:ext cx="280066" cy="2800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CDAA36-88DD-4B0D-9340-39C109054F01}">
      <dsp:nvSpPr>
        <dsp:cNvPr id="0" name=""/>
        <dsp:cNvSpPr/>
      </dsp:nvSpPr>
      <dsp:spPr>
        <a:xfrm>
          <a:off x="588139" y="1195"/>
          <a:ext cx="7037956" cy="50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92" tIns="53892" rIns="53892" bIns="538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1. Initialize a CMA-ES search distribution around the model's default knob values.</a:t>
          </a:r>
          <a:endParaRPr lang="en-US" sz="1400" kern="1200"/>
        </a:p>
      </dsp:txBody>
      <dsp:txXfrm>
        <a:off x="588139" y="1195"/>
        <a:ext cx="7037956" cy="509211"/>
      </dsp:txXfrm>
    </dsp:sp>
    <dsp:sp modelId="{34171257-8CE9-49CA-9D74-A3B026B4E43B}">
      <dsp:nvSpPr>
        <dsp:cNvPr id="0" name=""/>
        <dsp:cNvSpPr/>
      </dsp:nvSpPr>
      <dsp:spPr>
        <a:xfrm>
          <a:off x="0" y="637709"/>
          <a:ext cx="7626096" cy="509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E1EE47-8B06-489C-A48A-13459C32ECC4}">
      <dsp:nvSpPr>
        <dsp:cNvPr id="0" name=""/>
        <dsp:cNvSpPr/>
      </dsp:nvSpPr>
      <dsp:spPr>
        <a:xfrm>
          <a:off x="154036" y="752282"/>
          <a:ext cx="280066" cy="2800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5A5D4-491E-480D-A3C8-F803A018F616}">
      <dsp:nvSpPr>
        <dsp:cNvPr id="0" name=""/>
        <dsp:cNvSpPr/>
      </dsp:nvSpPr>
      <dsp:spPr>
        <a:xfrm>
          <a:off x="588139" y="637709"/>
          <a:ext cx="7037956" cy="50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92" tIns="53892" rIns="53892" bIns="538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2. Ask for a batch of candidate knob settings from the current distribution.</a:t>
          </a:r>
          <a:endParaRPr lang="en-US" sz="1400" kern="1200"/>
        </a:p>
      </dsp:txBody>
      <dsp:txXfrm>
        <a:off x="588139" y="637709"/>
        <a:ext cx="7037956" cy="509211"/>
      </dsp:txXfrm>
    </dsp:sp>
    <dsp:sp modelId="{11C428BB-E28C-4E39-8700-EACCA7C6FC69}">
      <dsp:nvSpPr>
        <dsp:cNvPr id="0" name=""/>
        <dsp:cNvSpPr/>
      </dsp:nvSpPr>
      <dsp:spPr>
        <a:xfrm>
          <a:off x="0" y="1274224"/>
          <a:ext cx="7626096" cy="509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A72738-9391-4EFA-92DB-A9DEC09FB157}">
      <dsp:nvSpPr>
        <dsp:cNvPr id="0" name=""/>
        <dsp:cNvSpPr/>
      </dsp:nvSpPr>
      <dsp:spPr>
        <a:xfrm>
          <a:off x="154036" y="1388797"/>
          <a:ext cx="280066" cy="2800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BF8CAC-457D-418C-B8F3-02FAA8B5B60C}">
      <dsp:nvSpPr>
        <dsp:cNvPr id="0" name=""/>
        <dsp:cNvSpPr/>
      </dsp:nvSpPr>
      <dsp:spPr>
        <a:xfrm>
          <a:off x="588139" y="1274224"/>
          <a:ext cx="7037956" cy="50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92" tIns="53892" rIns="53892" bIns="538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3. Evaluate each candidate by building the Hamiltonian, simulating the dynamics, and measuring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CH" sz="14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fr-CH" sz="1400" b="0" i="1" kern="1200" smtClean="0">
                      <a:latin typeface="Cambria Math" panose="02040503050406030204" pitchFamily="18" charset="0"/>
                    </a:rPr>
                    <m:t>𝑇</m:t>
                  </m:r>
                </m:e>
                <m:sub>
                  <m:r>
                    <a:rPr lang="fr-CH" sz="1400" b="0" i="1" kern="1200" smtClean="0">
                      <a:latin typeface="Cambria Math" panose="02040503050406030204" pitchFamily="18" charset="0"/>
                    </a:rPr>
                    <m:t>𝑧</m:t>
                  </m:r>
                </m:sub>
              </m:sSub>
            </m:oMath>
          </a14:m>
          <a:r>
            <a:rPr lang="en-GB" sz="1400" kern="1200"/>
            <a:t>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CH" sz="14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fr-CH" sz="1400" b="0" i="1" kern="1200" smtClean="0">
                      <a:latin typeface="Cambria Math" panose="02040503050406030204" pitchFamily="18" charset="0"/>
                    </a:rPr>
                    <m:t>𝑇</m:t>
                  </m:r>
                </m:e>
                <m:sub>
                  <m:r>
                    <a:rPr lang="fr-CH" sz="1400" b="0" i="1" kern="1200" smtClean="0">
                      <a:latin typeface="Cambria Math" panose="02040503050406030204" pitchFamily="18" charset="0"/>
                    </a:rPr>
                    <m:t>𝑥</m:t>
                  </m:r>
                </m:sub>
              </m:sSub>
            </m:oMath>
          </a14:m>
          <a:r>
            <a:rPr lang="en-GB" sz="1400" kern="1200"/>
            <a:t>, and bias.</a:t>
          </a:r>
          <a:endParaRPr lang="en-US" sz="1400" kern="1200"/>
        </a:p>
      </dsp:txBody>
      <dsp:txXfrm>
        <a:off x="588139" y="1274224"/>
        <a:ext cx="7037956" cy="509211"/>
      </dsp:txXfrm>
    </dsp:sp>
    <dsp:sp modelId="{F907790F-2468-4EA2-A6F3-E7DF3F35E506}">
      <dsp:nvSpPr>
        <dsp:cNvPr id="0" name=""/>
        <dsp:cNvSpPr/>
      </dsp:nvSpPr>
      <dsp:spPr>
        <a:xfrm>
          <a:off x="0" y="1910739"/>
          <a:ext cx="7626096" cy="509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D80F1-6330-4F34-9752-79AF585CEA76}">
      <dsp:nvSpPr>
        <dsp:cNvPr id="0" name=""/>
        <dsp:cNvSpPr/>
      </dsp:nvSpPr>
      <dsp:spPr>
        <a:xfrm>
          <a:off x="154036" y="2025312"/>
          <a:ext cx="280066" cy="2800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3A8EFF-DBDF-4073-9590-5E7F18C3BCF2}">
      <dsp:nvSpPr>
        <dsp:cNvPr id="0" name=""/>
        <dsp:cNvSpPr/>
      </dsp:nvSpPr>
      <dsp:spPr>
        <a:xfrm>
          <a:off x="588139" y="1910739"/>
          <a:ext cx="7037956" cy="50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92" tIns="53892" rIns="53892" bIns="538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4. Score each candidate with one of the reward functions defined before.</a:t>
          </a:r>
          <a:endParaRPr lang="en-US" sz="1400" kern="1200"/>
        </a:p>
      </dsp:txBody>
      <dsp:txXfrm>
        <a:off x="588139" y="1910739"/>
        <a:ext cx="7037956" cy="509211"/>
      </dsp:txXfrm>
    </dsp:sp>
    <dsp:sp modelId="{80B79917-4BEA-4BC9-80D6-C7B26EFA54FF}">
      <dsp:nvSpPr>
        <dsp:cNvPr id="0" name=""/>
        <dsp:cNvSpPr/>
      </dsp:nvSpPr>
      <dsp:spPr>
        <a:xfrm>
          <a:off x="0" y="2547254"/>
          <a:ext cx="7626096" cy="509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096B11-9DDE-4BDE-B2AF-CB23A5865374}">
      <dsp:nvSpPr>
        <dsp:cNvPr id="0" name=""/>
        <dsp:cNvSpPr/>
      </dsp:nvSpPr>
      <dsp:spPr>
        <a:xfrm>
          <a:off x="154036" y="2661826"/>
          <a:ext cx="280066" cy="2800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C5C835-1BFD-4419-880A-0AE52ADB8CA7}">
      <dsp:nvSpPr>
        <dsp:cNvPr id="0" name=""/>
        <dsp:cNvSpPr/>
      </dsp:nvSpPr>
      <dsp:spPr>
        <a:xfrm>
          <a:off x="588139" y="2547254"/>
          <a:ext cx="7037956" cy="50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92" tIns="53892" rIns="53892" bIns="538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5. Tell the optimizer the rewards so it updates its sampling distribution.</a:t>
          </a:r>
          <a:endParaRPr lang="en-US" sz="1400" kern="1200"/>
        </a:p>
      </dsp:txBody>
      <dsp:txXfrm>
        <a:off x="588139" y="2547254"/>
        <a:ext cx="7037956" cy="509211"/>
      </dsp:txXfrm>
    </dsp:sp>
    <dsp:sp modelId="{D773F93D-C79D-494D-8BA0-AE92E41BA238}">
      <dsp:nvSpPr>
        <dsp:cNvPr id="0" name=""/>
        <dsp:cNvSpPr/>
      </dsp:nvSpPr>
      <dsp:spPr>
        <a:xfrm>
          <a:off x="0" y="3183769"/>
          <a:ext cx="7626096" cy="509211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526AEB-379C-43E4-9252-6C215F898059}">
      <dsp:nvSpPr>
        <dsp:cNvPr id="0" name=""/>
        <dsp:cNvSpPr/>
      </dsp:nvSpPr>
      <dsp:spPr>
        <a:xfrm>
          <a:off x="154036" y="3298341"/>
          <a:ext cx="280066" cy="28006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4A2602-29FA-424F-A854-020D4D9B6A43}">
      <dsp:nvSpPr>
        <dsp:cNvPr id="0" name=""/>
        <dsp:cNvSpPr/>
      </dsp:nvSpPr>
      <dsp:spPr>
        <a:xfrm>
          <a:off x="588139" y="3183769"/>
          <a:ext cx="7037956" cy="5092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892" tIns="53892" rIns="53892" bIns="53892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/>
            <a:t>6. Repeat under the current drift condition, tracking reward,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CH" sz="14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fr-CH" sz="1400" b="0" i="1" kern="1200" smtClean="0">
                      <a:latin typeface="Cambria Math" panose="02040503050406030204" pitchFamily="18" charset="0"/>
                    </a:rPr>
                    <m:t>𝑇</m:t>
                  </m:r>
                </m:e>
                <m:sub>
                  <m:r>
                    <a:rPr lang="fr-CH" sz="1400" b="0" i="1" kern="1200" smtClean="0">
                      <a:latin typeface="Cambria Math" panose="02040503050406030204" pitchFamily="18" charset="0"/>
                    </a:rPr>
                    <m:t>𝑧</m:t>
                  </m:r>
                </m:sub>
              </m:sSub>
            </m:oMath>
          </a14:m>
          <a:r>
            <a:rPr lang="en-GB" sz="1400" kern="1200"/>
            <a:t>, </a:t>
          </a:r>
          <a14:m xmlns:a14="http://schemas.microsoft.com/office/drawing/2010/main">
            <m:oMath xmlns:m="http://schemas.openxmlformats.org/officeDocument/2006/math">
              <m:sSub>
                <m:sSubPr>
                  <m:ctrlPr>
                    <a:rPr lang="fr-CH" sz="1400" b="0" i="1" kern="1200" smtClean="0">
                      <a:latin typeface="Cambria Math" panose="02040503050406030204" pitchFamily="18" charset="0"/>
                    </a:rPr>
                  </m:ctrlPr>
                </m:sSubPr>
                <m:e>
                  <m:r>
                    <a:rPr lang="fr-CH" sz="1400" b="0" i="1" kern="1200" smtClean="0">
                      <a:latin typeface="Cambria Math" panose="02040503050406030204" pitchFamily="18" charset="0"/>
                    </a:rPr>
                    <m:t>𝑇</m:t>
                  </m:r>
                </m:e>
                <m:sub>
                  <m:r>
                    <a:rPr lang="fr-CH" sz="1400" b="0" i="1" kern="1200" smtClean="0">
                      <a:latin typeface="Cambria Math" panose="02040503050406030204" pitchFamily="18" charset="0"/>
                    </a:rPr>
                    <m:t>𝑥</m:t>
                  </m:r>
                </m:sub>
              </m:sSub>
            </m:oMath>
          </a14:m>
          <a:r>
            <a:rPr lang="en-GB" sz="1400" kern="1200"/>
            <a:t>, and </a:t>
          </a:r>
          <a14:m xmlns:a14="http://schemas.microsoft.com/office/drawing/2010/main">
            <m:oMath xmlns:m="http://schemas.openxmlformats.org/officeDocument/2006/math">
              <m:r>
                <a:rPr lang="en-GB" sz="1400" i="1" kern="1200" dirty="0" smtClean="0">
                  <a:latin typeface="Cambria Math" panose="02040503050406030204" pitchFamily="18" charset="0"/>
                </a:rPr>
                <m:t>𝜂</m:t>
              </m:r>
              <m:r>
                <a:rPr lang="en-GB" sz="1400" i="1" kern="1200" dirty="0" smtClean="0">
                  <a:latin typeface="Cambria Math" panose="02040503050406030204" pitchFamily="18" charset="0"/>
                </a:rPr>
                <m:t> </m:t>
              </m:r>
            </m:oMath>
          </a14:m>
          <a:r>
            <a:rPr lang="en-GB" sz="1400" kern="1200"/>
            <a:t>over epochs.</a:t>
          </a:r>
          <a:endParaRPr lang="en-US" sz="1400" kern="1200"/>
        </a:p>
      </dsp:txBody>
      <dsp:txXfrm>
        <a:off x="588139" y="3183769"/>
        <a:ext cx="7037956" cy="5092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054" y="1124712"/>
            <a:ext cx="8277606" cy="3172968"/>
          </a:xfrm>
        </p:spPr>
        <p:txBody>
          <a:bodyPr anchor="b">
            <a:normAutofit/>
          </a:bodyPr>
          <a:lstStyle>
            <a:lvl1pPr algn="l">
              <a:defRPr sz="10666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2054" y="4727448"/>
            <a:ext cx="8277606" cy="1481328"/>
          </a:xfrm>
        </p:spPr>
        <p:txBody>
          <a:bodyPr>
            <a:normAutofit/>
          </a:bodyPr>
          <a:lstStyle>
            <a:lvl1pPr marL="0" indent="0" algn="l">
              <a:buNone/>
              <a:defRPr sz="3733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2054" y="6356351"/>
            <a:ext cx="2057400" cy="365125"/>
          </a:xfrm>
        </p:spPr>
        <p:txBody>
          <a:bodyPr/>
          <a:lstStyle/>
          <a:p>
            <a:fld id="{965A7A7B-B71A-428D-833F-0F3507A6DB13}" type="datetimeFigureOut">
              <a:rPr lang="en-US" dirty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652260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624870" y="434802"/>
            <a:ext cx="146304" cy="52806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433989" y="4501201"/>
            <a:ext cx="8276022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55129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5CF65307-640F-4AE7-B0BE-50C709AD86C5}" type="datetimeFigureOut">
              <a:rPr lang="en-US" dirty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4173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418658" y="4981421"/>
            <a:ext cx="8351217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374126" y="5118581"/>
            <a:ext cx="109728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338" y="640080"/>
            <a:ext cx="8167878" cy="4114800"/>
          </a:xfrm>
        </p:spPr>
        <p:txBody>
          <a:bodyPr anchor="b">
            <a:normAutofit/>
          </a:bodyPr>
          <a:lstStyle>
            <a:lvl1pPr>
              <a:defRPr sz="8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5102352"/>
            <a:ext cx="795528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667">
                <a:solidFill>
                  <a:schemeClr val="tx1"/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7EA1F9-1F0F-4C65-8F6E-9729B924AAAC}" type="datetimeFigureOut">
              <a:rPr lang="en-US" dirty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984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6676" y="2478024"/>
            <a:ext cx="370332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59452" y="2478024"/>
            <a:ext cx="3703320" cy="36941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202278E8-5F4B-47D5-A617-8CCDF75D6A33}" type="datetimeFigureOut">
              <a:rPr lang="en-US" dirty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93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418657" y="0"/>
            <a:ext cx="8375585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425196" y="0"/>
            <a:ext cx="836676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374126" y="787352"/>
            <a:ext cx="96012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>
            <a:normAutofit/>
          </a:bodyPr>
          <a:lstStyle>
            <a:lvl1pPr>
              <a:defRPr sz="53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6676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76" y="3203688"/>
            <a:ext cx="3703320" cy="2968512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759452" y="2372650"/>
            <a:ext cx="3703320" cy="823912"/>
          </a:xfrm>
        </p:spPr>
        <p:txBody>
          <a:bodyPr anchor="b"/>
          <a:lstStyle>
            <a:lvl1pPr marL="0" indent="0">
              <a:buNone/>
              <a:defRPr sz="3200" b="1" cap="none" baseline="0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59452" y="3203688"/>
            <a:ext cx="3703320" cy="2968511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fld id="{16AAFA52-7A21-407F-8339-40DF182D7460}" type="datetimeFigureOut">
              <a:rPr lang="en-US" dirty="0"/>
              <a:t>5/10/2026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9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499390" y="1533525"/>
            <a:ext cx="8187797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456813" y="2971798"/>
            <a:ext cx="96012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44" y="1938528"/>
            <a:ext cx="7632954" cy="2990088"/>
          </a:xfrm>
        </p:spPr>
        <p:txBody>
          <a:bodyPr>
            <a:normAutofit/>
          </a:bodyPr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70335-1C1A-4243-9BDD-9630C417D284}" type="datetimeFigureOut">
              <a:rPr lang="en-US" dirty="0"/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6078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1513F-8EBD-4612-96F4-CC3E309609AF}" type="datetimeFigureOut">
              <a:rPr lang="en-US" dirty="0"/>
              <a:t>5/10/2026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378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3894" y="1709928"/>
            <a:ext cx="5047488" cy="4096512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29000"/>
            <a:ext cx="2324862" cy="2066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E6483A1-31A8-47A2-AB0A-53A7803D5EBF}" type="datetimeFigureOut">
              <a:rPr lang="en-US" dirty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05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418658" y="1162033"/>
            <a:ext cx="2805555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374126" y="1618375"/>
            <a:ext cx="109728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709928"/>
            <a:ext cx="2324862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4533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3723894" y="1161288"/>
            <a:ext cx="5047488" cy="4645152"/>
          </a:xfrm>
        </p:spPr>
        <p:txBody>
          <a:bodyPr anchor="t">
            <a:normAutofit/>
          </a:bodyPr>
          <a:lstStyle>
            <a:lvl1pPr marL="0" indent="0">
              <a:buNone/>
              <a:defRPr sz="3733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1510" y="3438144"/>
            <a:ext cx="2324862" cy="20574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51510" y="6356351"/>
            <a:ext cx="2057400" cy="365125"/>
          </a:xfrm>
        </p:spPr>
        <p:txBody>
          <a:bodyPr/>
          <a:lstStyle/>
          <a:p>
            <a:fld id="{6D8810B9-2C7C-4CAF-99E2-617AE20BA331}" type="datetimeFigureOut">
              <a:rPr lang="en-US" dirty="0"/>
              <a:t>5/10/2026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7489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8F9EB-9D34-4B41-B66C-5FAF50876D2D}" type="datetimeFigureOut">
              <a:rPr lang="en-US" dirty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84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489A26-CAA1-4690-8C1F-1641B1B97745}" type="datetimeFigureOut">
              <a:rPr lang="en-US" dirty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949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93E0A-5177-400C-87C9-C93AF466EC49}" type="datetimeFigureOut">
              <a:rPr lang="en-US" dirty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917615-2DB4-4DAA-9DE3-B2B689A846E0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42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0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10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gi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gi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sv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3F243-530E-8203-076D-41F44C6A16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3930" y="1008993"/>
            <a:ext cx="6923558" cy="3542045"/>
          </a:xfrm>
        </p:spPr>
        <p:txBody>
          <a:bodyPr anchor="b">
            <a:normAutofit/>
          </a:bodyPr>
          <a:lstStyle/>
          <a:p>
            <a:r>
              <a:rPr lang="en-GB" sz="7800">
                <a:ea typeface="+mj-lt"/>
                <a:cs typeface="+mj-lt"/>
              </a:rPr>
              <a:t>Adaptive Calibration of Cat Qubits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FD830F-37D4-32A7-F26E-41E4BFE55CD5}"/>
              </a:ext>
            </a:extLst>
          </p:cNvPr>
          <p:cNvSpPr txBox="1"/>
          <p:nvPr/>
        </p:nvSpPr>
        <p:spPr>
          <a:xfrm>
            <a:off x="965130" y="4556202"/>
            <a:ext cx="513611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Team: </a:t>
            </a:r>
            <a:r>
              <a:rPr lang="en-US" err="1"/>
              <a:t>The_</a:t>
            </a:r>
            <a:r>
              <a:rPr lang="en-US" err="1">
                <a:ea typeface="+mn-lt"/>
                <a:cs typeface="+mn-lt"/>
              </a:rPr>
              <a:t>μediterranean_operators</a:t>
            </a:r>
            <a:r>
              <a:rPr lang="en-US">
                <a:ea typeface="+mn-lt"/>
                <a:cs typeface="+mn-lt"/>
              </a:rPr>
              <a:t> </a:t>
            </a:r>
            <a:endParaRPr lang="en-US"/>
          </a:p>
        </p:txBody>
      </p:sp>
      <p:pic>
        <p:nvPicPr>
          <p:cNvPr id="7" name="Picture 6" descr="HPCwire - Since 1987 – Covering the Fastest Computers in the World and the  People Who Run Them">
            <a:extLst>
              <a:ext uri="{FF2B5EF4-FFF2-40B4-BE49-F238E27FC236}">
                <a16:creationId xmlns:a16="http://schemas.microsoft.com/office/drawing/2014/main" id="{D0498246-ED06-E5E2-B600-34E6D5EFC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1058" y="5540975"/>
            <a:ext cx="1242333" cy="1247303"/>
          </a:xfrm>
          <a:prstGeom prst="rect">
            <a:avLst/>
          </a:prstGeom>
        </p:spPr>
      </p:pic>
      <p:pic>
        <p:nvPicPr>
          <p:cNvPr id="9" name="Picture 8" descr="About us – QCHS 2022">
            <a:extLst>
              <a:ext uri="{FF2B5EF4-FFF2-40B4-BE49-F238E27FC236}">
                <a16:creationId xmlns:a16="http://schemas.microsoft.com/office/drawing/2014/main" id="{3B1AD676-AA60-B13C-3F63-7E1844E4D8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" y="5832775"/>
            <a:ext cx="2305565" cy="952347"/>
          </a:xfrm>
          <a:prstGeom prst="rect">
            <a:avLst/>
          </a:prstGeom>
        </p:spPr>
      </p:pic>
      <p:pic>
        <p:nvPicPr>
          <p:cNvPr id="13" name="Picture 12" descr="Datei:ETH Zürich Logo black.svg – Wikipedia">
            <a:extLst>
              <a:ext uri="{FF2B5EF4-FFF2-40B4-BE49-F238E27FC236}">
                <a16:creationId xmlns:a16="http://schemas.microsoft.com/office/drawing/2014/main" id="{2923A3A7-A5C5-DD84-19C1-BDC021F7F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1517" y="6301260"/>
            <a:ext cx="2249961" cy="372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485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2F3A5-7E3E-D3E3-98A1-144EC548C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300">
                <a:ea typeface="+mj-lt"/>
                <a:cs typeface="+mj-lt"/>
              </a:rPr>
              <a:t>The Challenge: Keeping Cat Qubits Alive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BD5C8E-0109-2B3E-DA2C-BE1029B46A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8659C3-2CB9-4383-986F-74B8A7CBC2B6}" type="datetime1">
              <a:rPr lang="en-CH"/>
              <a:t>05/10/2026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D9439-0D98-7930-41A4-0600270D8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6247-7EB9-CE37-EC4D-38CB59666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5F0CFE-37E1-9429-EF8D-3FBD00637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855" y="2300198"/>
            <a:ext cx="3451145" cy="3615950"/>
          </a:xfrm>
          <a:prstGeom prst="rect">
            <a:avLst/>
          </a:prstGeom>
        </p:spPr>
      </p:pic>
      <p:pic>
        <p:nvPicPr>
          <p:cNvPr id="11" name="Picture 10" descr="A graph of a&#10;&#10;AI-generated content may be incorrect.">
            <a:extLst>
              <a:ext uri="{FF2B5EF4-FFF2-40B4-BE49-F238E27FC236}">
                <a16:creationId xmlns:a16="http://schemas.microsoft.com/office/drawing/2014/main" id="{894EAF21-BB12-2AB6-EC18-92010D98A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777" y="2301381"/>
            <a:ext cx="3455878" cy="3615950"/>
          </a:xfrm>
          <a:prstGeom prst="rect">
            <a:avLst/>
          </a:prstGeom>
        </p:spPr>
      </p:pic>
      <p:pic>
        <p:nvPicPr>
          <p:cNvPr id="7" name="Content Placeholder 6" descr="alice &amp; bob logical qubit">
            <a:extLst>
              <a:ext uri="{FF2B5EF4-FFF2-40B4-BE49-F238E27FC236}">
                <a16:creationId xmlns:a16="http://schemas.microsoft.com/office/drawing/2014/main" id="{3A5C076A-77E4-C438-8AB4-AB4CCEBAAD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rcRect l="30105" t="9484" r="30093" b="9205"/>
          <a:stretch>
            <a:fillRect/>
          </a:stretch>
        </p:blipFill>
        <p:spPr>
          <a:xfrm>
            <a:off x="7297807" y="1139439"/>
            <a:ext cx="1766837" cy="1654755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15912372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676" y="2478024"/>
            <a:ext cx="7626096" cy="10484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/>
              <a:t>Maximize</a:t>
            </a:r>
            <a:r>
              <a:t> lifetime of cat </a:t>
            </a:r>
            <a:r>
              <a:rPr lang="en-US"/>
              <a:t>qubits</a:t>
            </a:r>
            <a:r>
              <a:t> under noise and drift.</a:t>
            </a:r>
          </a:p>
        </p:txBody>
      </p:sp>
      <p:pic>
        <p:nvPicPr>
          <p:cNvPr id="5" name="Picture 4" descr="A yellow arrow pointing up&#10;&#10;AI-generated content may be incorrect.">
            <a:extLst>
              <a:ext uri="{FF2B5EF4-FFF2-40B4-BE49-F238E27FC236}">
                <a16:creationId xmlns:a16="http://schemas.microsoft.com/office/drawing/2014/main" id="{430F41F1-065A-917D-41E9-AED1AB9281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868" y="3582819"/>
            <a:ext cx="346736" cy="6862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3C0583-9BB9-148A-D1F2-4F6BBD5942E1}"/>
                  </a:ext>
                </a:extLst>
              </p:cNvPr>
              <p:cNvSpPr txBox="1"/>
              <p:nvPr/>
            </p:nvSpPr>
            <p:spPr>
              <a:xfrm>
                <a:off x="443345" y="4198059"/>
                <a:ext cx="2311140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(</a:t>
                </a:r>
                <a:r>
                  <a:rPr lang="en-US">
                    <a:ea typeface="+mn-lt"/>
                    <a:cs typeface="+mn-lt"/>
                  </a:rPr>
                  <a:t>Bit-flip lifetime)</a:t>
                </a:r>
                <a:endParaRPr lang="en-US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23C0583-9BB9-148A-D1F2-4F6BBD5942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345" y="4198059"/>
                <a:ext cx="2311140" cy="369332"/>
              </a:xfrm>
              <a:prstGeom prst="rect">
                <a:avLst/>
              </a:prstGeom>
              <a:blipFill>
                <a:blip r:embed="rId3"/>
                <a:stretch>
                  <a:fillRect t="-8333" b="-2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 descr="A yellow arrow pointing up&#10;&#10;AI-generated content may be incorrect.">
            <a:extLst>
              <a:ext uri="{FF2B5EF4-FFF2-40B4-BE49-F238E27FC236}">
                <a16:creationId xmlns:a16="http://schemas.microsoft.com/office/drawing/2014/main" id="{BC07D406-DFE0-00EF-06C3-2D3152B73C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022" y="3582819"/>
            <a:ext cx="346736" cy="6862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E6BECD-6FB0-80D0-7F29-DBFE7C730157}"/>
                  </a:ext>
                </a:extLst>
              </p:cNvPr>
              <p:cNvSpPr txBox="1"/>
              <p:nvPr/>
            </p:nvSpPr>
            <p:spPr>
              <a:xfrm>
                <a:off x="6154614" y="4269094"/>
                <a:ext cx="2710067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𝑧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/>
                  <a:t>(</a:t>
                </a:r>
                <a:r>
                  <a:rPr lang="en-US">
                    <a:ea typeface="+mn-lt"/>
                    <a:cs typeface="+mn-lt"/>
                  </a:rPr>
                  <a:t>Phase-flip lifetime)</a:t>
                </a:r>
                <a:endParaRPr lang="en-US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E6BECD-6FB0-80D0-7F29-DBFE7C730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614" y="4269094"/>
                <a:ext cx="2710067" cy="369332"/>
              </a:xfrm>
              <a:prstGeom prst="rect">
                <a:avLst/>
              </a:prstGeom>
              <a:blipFill>
                <a:blip r:embed="rId4"/>
                <a:stretch>
                  <a:fillRect t="-6557" b="-262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9D4D1C-C584-1776-5DD7-516B8627ADDD}"/>
              </a:ext>
            </a:extLst>
          </p:cNvPr>
          <p:cNvSpPr txBox="1">
            <a:spLocks/>
          </p:cNvSpPr>
          <p:nvPr/>
        </p:nvSpPr>
        <p:spPr>
          <a:xfrm>
            <a:off x="913349" y="4968487"/>
            <a:ext cx="7626096" cy="120939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With balancing control parameters under realistic quantum constraints.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9DC7B0-5E62-E693-CF5F-35129A6080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02495" y="3588972"/>
            <a:ext cx="740230" cy="7071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48851D-AE9B-45CC-1C3F-3FC2B5392CA1}"/>
                  </a:ext>
                </a:extLst>
              </p:cNvPr>
              <p:cNvSpPr txBox="1"/>
              <p:nvPr/>
            </p:nvSpPr>
            <p:spPr>
              <a:xfrm>
                <a:off x="3376392" y="4230500"/>
                <a:ext cx="2184714" cy="369332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𝜂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= </m:t>
                      </m:r>
                      <m:sSub>
                        <m:sSubPr>
                          <m:ctrlPr>
                            <a:rPr lang="fr-CH" b="0" i="1" dirty="0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i="1" dirty="0" err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𝑇</m:t>
                          </m:r>
                        </m:e>
                        <m:sub>
                          <m:r>
                            <a:rPr lang="en-US" i="1" dirty="0" err="1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𝑧</m:t>
                          </m:r>
                        </m:sub>
                      </m:sSub>
                      <m:r>
                        <a:rPr lang="en-US" i="1" dirty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/</m:t>
                      </m:r>
                      <m:r>
                        <a:rPr lang="fr-CH" b="0" i="1" dirty="0" smtClean="0">
                          <a:latin typeface="Cambria Math" panose="02040503050406030204" pitchFamily="18" charset="0"/>
                          <a:ea typeface="+mn-lt"/>
                          <a:cs typeface="+mn-lt"/>
                        </a:rPr>
                        <m:t> </m:t>
                      </m:r>
                      <m:sSub>
                        <m:sSubPr>
                          <m:ctrlPr>
                            <a:rPr lang="fr-CH" b="0" i="1" dirty="0" smtClean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𝑇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  <a:ea typeface="+mn-lt"/>
                              <a:cs typeface="+mn-lt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C48851D-AE9B-45CC-1C3F-3FC2B5392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392" y="4230500"/>
                <a:ext cx="2184714" cy="369332"/>
              </a:xfrm>
              <a:prstGeom prst="rect">
                <a:avLst/>
              </a:prstGeom>
              <a:blipFill>
                <a:blip r:embed="rId6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260A1-9553-DF4C-4489-9A3CAED1F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sz="6300"/>
              <a:t>Model</a:t>
            </a:r>
            <a:endParaRPr lang="en-US" sz="63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14C5D4-8A79-E3FE-A0DD-8553339F60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6676" y="2112899"/>
                <a:ext cx="7626096" cy="3694176"/>
              </a:xfrm>
            </p:spPr>
            <p:txBody>
              <a:bodyPr vert="horz" lIns="91440" tIns="45720" rIns="91440" bIns="45720" rtlCol="0" anchor="t">
                <a:normAutofit fontScale="92500" lnSpcReduction="20000"/>
              </a:bodyPr>
              <a:lstStyle/>
              <a:p>
                <a:r>
                  <a:rPr lang="fr-FR"/>
                  <a:t>Truncated </a:t>
                </a:r>
                <a:r>
                  <a:rPr lang="fr-FR" err="1"/>
                  <a:t>Hilbertspace</a:t>
                </a:r>
                <a:r>
                  <a:rPr lang="fr-FR"/>
                  <a:t>:</a:t>
                </a:r>
              </a:p>
              <a:p>
                <a:pPr lvl="1"/>
                <a:r>
                  <a:rPr lang="fr-FR"/>
                  <a:t>Storage mode: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CH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fr-CH" i="1">
                        <a:latin typeface="Cambria Math" panose="02040503050406030204" pitchFamily="18" charset="0"/>
                      </a:rPr>
                      <m:t>=12 </m:t>
                    </m:r>
                  </m:oMath>
                </a14:m>
                <a:endParaRPr lang="fr-FR"/>
              </a:p>
              <a:p>
                <a:pPr lvl="1"/>
                <a:r>
                  <a:rPr lang="fr-FR"/>
                  <a:t>Buffer mode: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CH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CH" i="1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fr-CH" i="1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fr-CH" i="1">
                        <a:latin typeface="Cambria Math" panose="02040503050406030204" pitchFamily="18" charset="0"/>
                      </a:rPr>
                      <m:t>=4 </m:t>
                    </m:r>
                  </m:oMath>
                </a14:m>
                <a:endParaRPr lang="en-US"/>
              </a:p>
              <a:p>
                <a:r>
                  <a:rPr lang="en-US"/>
                  <a:t>Hamiltonian: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= </m:t>
                      </m:r>
                      <m:sSubSup>
                        <m:sSub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 − 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fr-CH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†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</a:rPr>
                        <m:t> − </m:t>
                      </m:r>
                      <m:sSubSup>
                        <m:sSubSup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800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fr-CH" sz="28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US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sz="2800" i="1">
                  <a:latin typeface="Cambria Math" panose="02040503050406030204" pitchFamily="18" charset="0"/>
                </a:endParaRPr>
              </a:p>
              <a:p>
                <a:r>
                  <a:rPr lang="en-US"/>
                  <a:t>Jump operators: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it-IT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r>
                        <a:rPr lang="it-IT" i="1" dirty="0">
                          <a:latin typeface="Cambria Math" panose="02040503050406030204" pitchFamily="18" charset="0"/>
                        </a:rPr>
                        <m:t> =</m:t>
                      </m:r>
                      <m:rad>
                        <m:radPr>
                          <m:degHide m:val="on"/>
                          <m:ctrlPr>
                            <a:rPr lang="it-IT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it-IT" i="1" dirty="0" err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e>
                      </m:rad>
                      <m:r>
                        <a:rPr lang="it-IT" i="1" dirty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CH" b="0" i="1" dirty="0" smtClean="0">
                          <a:latin typeface="Cambria Math" panose="02040503050406030204" pitchFamily="18" charset="0"/>
                        </a:rPr>
                        <m:t>                                         </m:t>
                      </m:r>
                      <m:sSub>
                        <m:sSubPr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it-IT" i="1" dirty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fr-CH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  <m:r>
                        <a:rPr lang="it-IT" i="1" dirty="0">
                          <a:latin typeface="Cambria Math" panose="02040503050406030204" pitchFamily="18" charset="0"/>
                        </a:rPr>
                        <m:t> =</m:t>
                      </m:r>
                      <m:rad>
                        <m:radPr>
                          <m:degHide m:val="on"/>
                          <m:ctrlPr>
                            <a:rPr lang="it-IT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it-IT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i="1" dirty="0">
                                  <a:latin typeface="Cambria Math" panose="02040503050406030204" pitchFamily="18" charset="0"/>
                                </a:rPr>
                                <m:t>𝜅</m:t>
                              </m:r>
                            </m:e>
                            <m:sub>
                              <m:r>
                                <a:rPr lang="fr-CH" b="0" i="1" dirty="0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US"/>
              </a:p>
              <a:p>
                <a:r>
                  <a:rPr lang="en-US"/>
                  <a:t>Linblad equation:</a:t>
                </a:r>
              </a:p>
              <a:p>
                <a:pPr lvl="1"/>
                <a:endParaRPr lang="en-US"/>
              </a:p>
              <a:p>
                <a:pPr marL="0" indent="0">
                  <a:buNone/>
                </a:pPr>
                <a:endParaRPr lang="en-US"/>
              </a:p>
              <a:p>
                <a:pPr lvl="1"/>
                <a:endParaRPr lang="en-US"/>
              </a:p>
              <a:p>
                <a:endParaRPr lang="en-US"/>
              </a:p>
              <a:p>
                <a:pPr marL="457200" lvl="1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14C5D4-8A79-E3FE-A0DD-8553339F60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6676" y="2112899"/>
                <a:ext cx="7626096" cy="3694176"/>
              </a:xfrm>
              <a:blipFill>
                <a:blip r:embed="rId2"/>
                <a:stretch>
                  <a:fillRect l="-1199" t="-26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F0CB7-62D8-0813-D49C-5E6008930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B97E38-11BE-49DA-BDB2-D2E38D6E528F}" type="datetime1">
              <a:rPr lang="en-US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FEA5E-150A-4408-1675-2A8998F9A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B2E2A-A31F-346F-848A-036AB350C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4</a:t>
            </a:fld>
            <a:endParaRPr lang="en-US"/>
          </a:p>
        </p:txBody>
      </p:sp>
      <p:pic>
        <p:nvPicPr>
          <p:cNvPr id="10" name="Picture 9" descr="The provided text seems to be an incomplete and somewhat scrambled mathematical expression. If you're looking for a description of a diagram, please provide a clear image or more context, and I'll do my best to describe it.&#10;&#10;AI-generated content may be incorrect.">
            <a:extLst>
              <a:ext uri="{FF2B5EF4-FFF2-40B4-BE49-F238E27FC236}">
                <a16:creationId xmlns:a16="http://schemas.microsoft.com/office/drawing/2014/main" id="{EFACB44A-E77A-952B-632F-4BADF8C7D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387" y="5514109"/>
            <a:ext cx="5968674" cy="9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600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467A89-67C7-C997-7FB4-E20D6DA15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/>
              <a:t>Model Variants</a:t>
            </a:r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Content Placeholder 11">
                <a:extLst>
                  <a:ext uri="{FF2B5EF4-FFF2-40B4-BE49-F238E27FC236}">
                    <a16:creationId xmlns:a16="http://schemas.microsoft.com/office/drawing/2014/main" id="{F02A43AC-6148-1CA3-1E1E-BFD20552202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40831649"/>
                  </p:ext>
                </p:extLst>
              </p:nvPr>
            </p:nvGraphicFramePr>
            <p:xfrm>
              <a:off x="634211" y="2366459"/>
              <a:ext cx="7871886" cy="3448436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2327189">
                      <a:extLst>
                        <a:ext uri="{9D8B030D-6E8A-4147-A177-3AD203B41FA5}">
                          <a16:colId xmlns:a16="http://schemas.microsoft.com/office/drawing/2014/main" val="2490149379"/>
                        </a:ext>
                      </a:extLst>
                    </a:gridCol>
                    <a:gridCol w="1245971">
                      <a:extLst>
                        <a:ext uri="{9D8B030D-6E8A-4147-A177-3AD203B41FA5}">
                          <a16:colId xmlns:a16="http://schemas.microsoft.com/office/drawing/2014/main" val="3156329121"/>
                        </a:ext>
                      </a:extLst>
                    </a:gridCol>
                    <a:gridCol w="2193324">
                      <a:extLst>
                        <a:ext uri="{9D8B030D-6E8A-4147-A177-3AD203B41FA5}">
                          <a16:colId xmlns:a16="http://schemas.microsoft.com/office/drawing/2014/main" val="2489867878"/>
                        </a:ext>
                      </a:extLst>
                    </a:gridCol>
                    <a:gridCol w="2105402">
                      <a:extLst>
                        <a:ext uri="{9D8B030D-6E8A-4147-A177-3AD203B41FA5}">
                          <a16:colId xmlns:a16="http://schemas.microsoft.com/office/drawing/2014/main" val="3365362971"/>
                        </a:ext>
                      </a:extLst>
                    </a:gridCol>
                  </a:tblGrid>
                  <a:tr h="35368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Model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Knobs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Extra Physics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Use Case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56853683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Standard Cat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4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Baseline pumping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Reference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4006381243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Moon Cat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6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ar-AE" sz="17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70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ar-AE" sz="1700">
                                      <a:latin typeface="Cambria Math" panose="02040503050406030204" pitchFamily="18" charset="0"/>
                                    </a:rPr>
                                    <m:t>†</m:t>
                                  </m:r>
                                </m:sup>
                              </m:sSup>
                              <m:r>
                                <a:rPr lang="ar-AE" sz="1700">
                                  <a:latin typeface="Cambria Math" panose="02040503050406030204" pitchFamily="18" charset="0"/>
                                </a:rPr>
                                <m:t>𝑎𝑏</m:t>
                              </m:r>
                            </m:oMath>
                          </a14:m>
                          <a:r>
                            <a:rPr lang="en-GB" sz="1700"/>
                            <a:t> coupling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Extended control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3619164787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Drift‑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GB" sz="1700"/>
                            <a:t>Compensated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4-6</a:t>
                          </a:r>
                          <a:endParaRPr lang="en-US" sz="1700"/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 err="1"/>
                            <a:t>Tunable</a:t>
                          </a:r>
                          <a:r>
                            <a:rPr lang="en-GB" sz="1700"/>
                            <a:t> detuning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Robustness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1350527790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Kerr Cat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6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Kerr nonlinearity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Higher coherence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1785328855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Effective Single‑Mode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2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Reduced Hilbert space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Fast simulation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388172146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Content Placeholder 11">
                <a:extLst>
                  <a:ext uri="{FF2B5EF4-FFF2-40B4-BE49-F238E27FC236}">
                    <a16:creationId xmlns:a16="http://schemas.microsoft.com/office/drawing/2014/main" id="{F02A43AC-6148-1CA3-1E1E-BFD205522021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40831649"/>
                  </p:ext>
                </p:extLst>
              </p:nvPr>
            </p:nvGraphicFramePr>
            <p:xfrm>
              <a:off x="634211" y="2366459"/>
              <a:ext cx="7871886" cy="3448436"/>
            </p:xfrm>
            <a:graphic>
              <a:graphicData uri="http://schemas.openxmlformats.org/drawingml/2006/table">
                <a:tbl>
                  <a:tblPr firstRow="1">
                    <a:tableStyleId>{5C22544A-7EE6-4342-B048-85BDC9FD1C3A}</a:tableStyleId>
                  </a:tblPr>
                  <a:tblGrid>
                    <a:gridCol w="2327189">
                      <a:extLst>
                        <a:ext uri="{9D8B030D-6E8A-4147-A177-3AD203B41FA5}">
                          <a16:colId xmlns:a16="http://schemas.microsoft.com/office/drawing/2014/main" val="2490149379"/>
                        </a:ext>
                      </a:extLst>
                    </a:gridCol>
                    <a:gridCol w="1245971">
                      <a:extLst>
                        <a:ext uri="{9D8B030D-6E8A-4147-A177-3AD203B41FA5}">
                          <a16:colId xmlns:a16="http://schemas.microsoft.com/office/drawing/2014/main" val="3156329121"/>
                        </a:ext>
                      </a:extLst>
                    </a:gridCol>
                    <a:gridCol w="2193324">
                      <a:extLst>
                        <a:ext uri="{9D8B030D-6E8A-4147-A177-3AD203B41FA5}">
                          <a16:colId xmlns:a16="http://schemas.microsoft.com/office/drawing/2014/main" val="2489867878"/>
                        </a:ext>
                      </a:extLst>
                    </a:gridCol>
                    <a:gridCol w="2105402">
                      <a:extLst>
                        <a:ext uri="{9D8B030D-6E8A-4147-A177-3AD203B41FA5}">
                          <a16:colId xmlns:a16="http://schemas.microsoft.com/office/drawing/2014/main" val="3365362971"/>
                        </a:ext>
                      </a:extLst>
                    </a:gridCol>
                  </a:tblGrid>
                  <a:tr h="353686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Model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Knobs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Extra Physics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Use Case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56853683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Standard Cat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4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Baseline pumping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Reference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4006381243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Moon Cat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6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88421" marR="88421" marT="44211" marB="44211" anchor="ctr">
                        <a:blipFill>
                          <a:blip r:embed="rId2"/>
                          <a:stretch>
                            <a:fillRect l="-163333" t="-161386" r="-97222" b="-30396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Extended control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3619164787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Drift‑</a:t>
                          </a:r>
                        </a:p>
                        <a:p>
                          <a:pPr>
                            <a:buNone/>
                          </a:pPr>
                          <a:r>
                            <a:rPr lang="en-GB" sz="1700"/>
                            <a:t>Compensated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4-6</a:t>
                          </a:r>
                          <a:endParaRPr lang="en-US" sz="1700"/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 err="1"/>
                            <a:t>Tunable</a:t>
                          </a:r>
                          <a:r>
                            <a:rPr lang="en-GB" sz="1700"/>
                            <a:t> detuning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Robustness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1350527790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Kerr Cat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6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Kerr nonlinearity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Higher coherence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1785328855"/>
                      </a:ext>
                    </a:extLst>
                  </a:tr>
                  <a:tr h="618950"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Effective Single‑Mode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CH" sz="1700"/>
                            <a:t>2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Reduced Hilbert space</a:t>
                          </a:r>
                        </a:p>
                      </a:txBody>
                      <a:tcPr marL="88421" marR="88421" marT="44211" marB="44211" anchor="ctr"/>
                    </a:tc>
                    <a:tc>
                      <a:txBody>
                        <a:bodyPr/>
                        <a:lstStyle/>
                        <a:p>
                          <a:pPr>
                            <a:buNone/>
                          </a:pPr>
                          <a:r>
                            <a:rPr lang="en-GB" sz="1700"/>
                            <a:t>Fast simulation</a:t>
                          </a:r>
                        </a:p>
                      </a:txBody>
                      <a:tcPr marL="88421" marR="88421" marT="44211" marB="44211" anchor="ctr"/>
                    </a:tc>
                    <a:extLst>
                      <a:ext uri="{0D108BD9-81ED-4DB2-BD59-A6C34878D82A}">
                        <a16:rowId xmlns:a16="http://schemas.microsoft.com/office/drawing/2014/main" val="38817214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81457-3D47-B0BB-94AF-92FEDC9CE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36CC62-032A-4D2D-9EAF-467124B7984D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A4E0B-F024-06E6-0FA2-9B2DE7EAB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1147F-5D46-86FF-58EE-3B5CBB2A9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60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6B266-B073-2BB7-22C8-57F25D2BB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/>
          <a:p>
            <a:r>
              <a:rPr lang="fr-CH" sz="6300"/>
              <a:t>Initialisation</a:t>
            </a:r>
            <a:endParaRPr lang="en-CH" sz="6300"/>
          </a:p>
        </p:txBody>
      </p:sp>
      <p:pic>
        <p:nvPicPr>
          <p:cNvPr id="6" name="Content Placeholder 5" descr="The diagram appears to be a scatter plot or heatmap, showing a distribution of complex numbers (Re(a) and Im(a)) on a 2D plane, with some points labeled with specific values.&#10;&#10;AI-generated content may be incorrect.">
            <a:extLst>
              <a:ext uri="{FF2B5EF4-FFF2-40B4-BE49-F238E27FC236}">
                <a16:creationId xmlns:a16="http://schemas.microsoft.com/office/drawing/2014/main" id="{793205B1-9144-8AB2-9898-7D13F41E2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6716" y="2215342"/>
            <a:ext cx="5210568" cy="409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4852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FE31-F071-7529-1562-08C4D03D0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CH" sz="4400" err="1"/>
              <a:t>Reward</a:t>
            </a:r>
            <a:r>
              <a:rPr lang="fr-CH" sz="4400"/>
              <a:t> </a:t>
            </a:r>
            <a:r>
              <a:rPr lang="fr-CH" sz="4400" err="1"/>
              <a:t>function</a:t>
            </a:r>
            <a:r>
              <a:rPr lang="fr-CH" sz="4400"/>
              <a:t> objectives</a:t>
            </a:r>
            <a:endParaRPr lang="en-CH" sz="44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CA6D51-74B6-8DB6-C7FD-313591E29A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GB" err="1"/>
                  <a:t>Log_sum_penalty</a:t>
                </a:r>
                <a:r>
                  <a:rPr lang="en-GB"/>
                  <a:t>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·(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₀)²</m:t>
                      </m:r>
                    </m:oMath>
                  </m:oMathPara>
                </a14:m>
                <a:endParaRPr lang="en-GB"/>
              </a:p>
              <a:p>
                <a:r>
                  <a:rPr lang="en-GB" err="1"/>
                  <a:t>Weighted_log</a:t>
                </a:r>
                <a:r>
                  <a:rPr lang="en-GB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en-GB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 dirty="0" err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GB" i="1" dirty="0" err="1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sSub>
                        <m:sSubPr>
                          <m:ctrlPr>
                            <a:rPr lang="en-GB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err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GB" i="1" dirty="0" err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GB" i="1" dirty="0" err="1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GB" i="1" dirty="0" err="1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·(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₀)²</m:t>
                      </m:r>
                    </m:oMath>
                  </m:oMathPara>
                </a14:m>
                <a:endParaRPr lang="en-GB"/>
              </a:p>
              <a:p>
                <a:r>
                  <a:rPr lang="en-GB" err="1"/>
                  <a:t>Bias_prioritized</a:t>
                </a:r>
                <a:r>
                  <a:rPr lang="en-GB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</a:rPr>
                        <m:t>max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⁡(|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₀|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, 0)</m:t>
                      </m:r>
                    </m:oMath>
                  </m:oMathPara>
                </a14:m>
                <a:endParaRPr lang="en-GB"/>
              </a:p>
              <a:p>
                <a:r>
                  <a:rPr lang="en-GB" err="1"/>
                  <a:t>Bias_constrained</a:t>
                </a:r>
                <a:r>
                  <a:rPr lang="en-GB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|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₀| &lt;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 −∞</m:t>
                      </m:r>
                    </m:oMath>
                  </m:oMathPara>
                </a14:m>
                <a:endParaRPr lang="en-GB"/>
              </a:p>
              <a:p>
                <a:r>
                  <a:rPr lang="en-GB" err="1"/>
                  <a:t>Log_relative_penalty</a:t>
                </a:r>
                <a:r>
                  <a:rPr lang="en-GB"/>
                  <a:t>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+ </m:t>
                      </m:r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en-GB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GB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sub>
                      </m:sSub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·(</m:t>
                      </m:r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) − </m:t>
                      </m:r>
                      <m:r>
                        <m:rPr>
                          <m:sty m:val="p"/>
                        </m:rPr>
                        <a:rPr lang="en-GB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⁡(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el-GR" i="1" dirty="0" smtClean="0">
                          <a:latin typeface="Cambria Math" panose="02040503050406030204" pitchFamily="18" charset="0"/>
                        </a:rPr>
                        <m:t>₀))²</m:t>
                      </m:r>
                    </m:oMath>
                  </m:oMathPara>
                </a14:m>
                <a:endParaRPr lang="el-GR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CA6D51-74B6-8DB6-C7FD-313591E29A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79" t="-1980" b="-1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955DD83-5BCF-85A3-BE2D-A7298AB43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194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6676" y="548640"/>
            <a:ext cx="7626096" cy="1179576"/>
          </a:xfrm>
        </p:spPr>
        <p:txBody>
          <a:bodyPr anchor="ctr">
            <a:normAutofit/>
          </a:bodyPr>
          <a:lstStyle/>
          <a:p>
            <a:r>
              <a:t>Our Approach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29F4B4A9-3BF2-C4FB-5F1A-F905A9204E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6676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3C527A99-8DE7-4D32-A797-7E7A663DB93D}" type="datetime1">
              <a:rPr lang="en-US"/>
              <a:pPr>
                <a:spcAft>
                  <a:spcPts val="600"/>
                </a:spcAft>
              </a:pPr>
              <a:t>5/10/2026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9B477292-8F6D-ED92-AE38-DEDCB9F1E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B45D63A-2B7A-A7C0-3BBF-784A7A571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A65A5C87-DF58-40C8-B092-1DE63DB4547E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3408447D-2CEE-1CF0-B6BC-187B164C932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86315693"/>
                  </p:ext>
                </p:extLst>
              </p:nvPr>
            </p:nvGraphicFramePr>
            <p:xfrm>
              <a:off x="836676" y="2478024"/>
              <a:ext cx="7626096" cy="369417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2" r:lo="rId3" r:qs="rId4" r:cs="rId5"/>
              </a:graphicData>
            </a:graphic>
          </p:graphicFrame>
        </mc:Choice>
        <mc:Fallback xmlns="">
          <p:graphicFrame>
            <p:nvGraphicFramePr>
              <p:cNvPr id="5" name="Content Placeholder 2">
                <a:extLst>
                  <a:ext uri="{FF2B5EF4-FFF2-40B4-BE49-F238E27FC236}">
                    <a16:creationId xmlns:a16="http://schemas.microsoft.com/office/drawing/2014/main" id="{3408447D-2CEE-1CF0-B6BC-187B164C932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386315693"/>
                  </p:ext>
                </p:extLst>
              </p:nvPr>
            </p:nvGraphicFramePr>
            <p:xfrm>
              <a:off x="836676" y="2478024"/>
              <a:ext cx="7626096" cy="3694176"/>
            </p:xfrm>
            <a:graphic>
              <a:graphicData uri="http://schemas.openxmlformats.org/drawingml/2006/diagram">
                <dgm:relIds xmlns:dgm="http://schemas.openxmlformats.org/drawingml/2006/diagram" xmlns:r="http://schemas.openxmlformats.org/officeDocument/2006/relationships" r:dm="rId7" r:lo="rId8" r:qs="rId9" r:cs="rId10"/>
              </a:graphicData>
            </a:graphic>
          </p:graphicFrame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A2F5E-5512-71E6-8D04-0B2467909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20654-537A-E77E-7DA0-D322FF95E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400"/>
              <a:t>Computational 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AFA9CE-1E1F-154D-4E21-4420057ED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6" y="2761999"/>
            <a:ext cx="8601077" cy="23547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Running the optimizers with threads on the CPU.</a:t>
            </a:r>
          </a:p>
          <a:p>
            <a:r>
              <a:rPr lang="en-US"/>
              <a:t>Build a JAX optimized code for GPU.</a:t>
            </a:r>
          </a:p>
          <a:p>
            <a:r>
              <a:rPr lang="en-US"/>
              <a:t>Run our full list of 100 experiments on a cluster of CPUs.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C8885-CEA0-FB0D-7D2B-F653F0394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730C-EE70-4072-B3DC-25A4B36838F3}" type="datetime1">
              <a:rPr lang="en-CH"/>
              <a:t>05/10/2026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A95EA5-B24A-C968-0DB5-E6A3A981B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40B37-C74C-1CC9-8BAC-35776F068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6394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285EA01E-9C82-5BB5-9E08-0CD64B6EB3A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88150" y="1270"/>
            <a:ext cx="1978660" cy="1978660"/>
          </a:xfrm>
          <a:prstGeom prst="rect">
            <a:avLst/>
          </a:prstGeom>
        </p:spPr>
      </p:pic>
      <p:pic>
        <p:nvPicPr>
          <p:cNvPr id="11" name="Content Placeholder 10" descr="A screenshot of a computer dashboard&#10;&#10;AI-generated content may be incorrect.">
            <a:extLst>
              <a:ext uri="{FF2B5EF4-FFF2-40B4-BE49-F238E27FC236}">
                <a16:creationId xmlns:a16="http://schemas.microsoft.com/office/drawing/2014/main" id="{15733957-F80A-D229-B3D8-321A8119AC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25476" y="2089244"/>
            <a:ext cx="8896096" cy="405517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6F8618-8EFA-E79A-5D98-68BA96183E30}"/>
              </a:ext>
            </a:extLst>
          </p:cNvPr>
          <p:cNvSpPr txBox="1"/>
          <p:nvPr/>
        </p:nvSpPr>
        <p:spPr>
          <a:xfrm>
            <a:off x="3200399" y="6258560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+ Optimization Graphs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6A2A5-FA2E-DD4B-3D13-BCAA80E4F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A50D7-145B-636C-D428-C3F704D4E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A5209-CE2C-8408-AED2-61827B35FF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qubit lifetime</a:t>
            </a:r>
          </a:p>
          <a:p>
            <a:r>
              <a:t>Stable convergence</a:t>
            </a:r>
          </a:p>
          <a:p>
            <a:r>
              <a:t>Robust against drift</a:t>
            </a:r>
          </a:p>
          <a:p>
            <a:r>
              <a:t>Competitive performance vs baselines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4A9EF99-004C-67DA-6CDC-D74D1F3B16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88150" y="1270"/>
            <a:ext cx="1978660" cy="1978660"/>
          </a:xfrm>
          <a:prstGeom prst="rect">
            <a:avLst/>
          </a:prstGeom>
        </p:spPr>
      </p:pic>
      <p:pic>
        <p:nvPicPr>
          <p:cNvPr id="4" name="Picture 3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3D0B1D07-461E-743B-0181-98CB006FE1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9670"/>
            <a:ext cx="9144000" cy="683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8831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D208C-E3D2-C6DA-B109-73CA02C10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graph&#10;&#10;AI-generated content may be incorrect.">
            <a:extLst>
              <a:ext uri="{FF2B5EF4-FFF2-40B4-BE49-F238E27FC236}">
                <a16:creationId xmlns:a16="http://schemas.microsoft.com/office/drawing/2014/main" id="{72187760-99BA-0A80-D61C-2436C6CC4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2" y="15586"/>
            <a:ext cx="9115603" cy="6829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1309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AE61F-79BD-F3B8-525B-F20D0FED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Amplitude Drift</a:t>
            </a:r>
            <a:endParaRPr lang="en-CH"/>
          </a:p>
        </p:txBody>
      </p:sp>
      <p:pic>
        <p:nvPicPr>
          <p:cNvPr id="10" name="Content Placeholder 9" descr="The image appears to be a plot or graph, likely a graphical representation of some scientific data or a function, with values plotted against a time or another variable (possibly Wigner distribution at time t=0). The specific content of the plot cannot be determined without further context.&#10;&#10;AI-generated content may be incorrect.">
            <a:extLst>
              <a:ext uri="{FF2B5EF4-FFF2-40B4-BE49-F238E27FC236}">
                <a16:creationId xmlns:a16="http://schemas.microsoft.com/office/drawing/2014/main" id="{BA321E22-F21A-242C-8879-D6F53DD05A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8668" y="2684083"/>
            <a:ext cx="4086518" cy="352329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4C4EA3-1FAA-0861-9AFA-29CF3B5A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4CDE1-91D8-4C30-AF6A-07243D2B39B1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F6DCA9-608C-6FC2-C265-4EF563642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37C23B-767D-9482-7065-6C2E64772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13</a:t>
            </a:fld>
            <a:endParaRPr lang="en-US"/>
          </a:p>
        </p:txBody>
      </p:sp>
      <p:pic>
        <p:nvPicPr>
          <p:cNvPr id="11" name="Picture 10" descr="Wigner at t=0.000 us&#10;&#10;AI-generated content may be incorrect.">
            <a:extLst>
              <a:ext uri="{FF2B5EF4-FFF2-40B4-BE49-F238E27FC236}">
                <a16:creationId xmlns:a16="http://schemas.microsoft.com/office/drawing/2014/main" id="{CA45883F-95A9-C8FC-2AC1-705347E3A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327" y="2684082"/>
            <a:ext cx="3980131" cy="3523292"/>
          </a:xfrm>
          <a:prstGeom prst="rect">
            <a:avLst/>
          </a:prstGeom>
        </p:spPr>
      </p:pic>
      <p:pic>
        <p:nvPicPr>
          <p:cNvPr id="14" name="Picture 13" descr="The image displays a mathematical equation with variables and symbols representing a relationship between energy, time, and other parameters.&#10;&#10;AI-generated content may be incorrect.">
            <a:extLst>
              <a:ext uri="{FF2B5EF4-FFF2-40B4-BE49-F238E27FC236}">
                <a16:creationId xmlns:a16="http://schemas.microsoft.com/office/drawing/2014/main" id="{B3B14173-64AA-A78A-50B9-1EFD498F6C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3317" y="1455004"/>
            <a:ext cx="6127548" cy="54189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4713A72-61B6-7680-7484-ABDDDEBFE250}"/>
              </a:ext>
            </a:extLst>
          </p:cNvPr>
          <p:cNvSpPr txBox="1"/>
          <p:nvPr/>
        </p:nvSpPr>
        <p:spPr>
          <a:xfrm>
            <a:off x="265542" y="2356166"/>
            <a:ext cx="2035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Initial states:     +x</a:t>
            </a:r>
            <a:endParaRPr lang="en-CH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73B530-A2A7-0DC0-FD97-2309EE97E218}"/>
              </a:ext>
            </a:extLst>
          </p:cNvPr>
          <p:cNvSpPr txBox="1"/>
          <p:nvPr/>
        </p:nvSpPr>
        <p:spPr>
          <a:xfrm>
            <a:off x="6398601" y="235674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+z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64830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ACBA4-78FC-59EE-7EE1-6EAFAC648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/>
              <a:t>Frequency Drift</a:t>
            </a:r>
            <a:endParaRPr lang="en-CH"/>
          </a:p>
        </p:txBody>
      </p:sp>
      <p:pic>
        <p:nvPicPr>
          <p:cNvPr id="10" name="Content Placeholder 9" descr="The image appears to be a scatter plot or heatmap showing values of a complex function (possibly a signal or data point) with axes labeled 'Wigner' (time in microseconds) and 'Im(a)', 'Re(a)' (imaginary and real parts of a complex number), and a color scale indicating magnitude.&#10;&#10;AI-generated content may be incorrect.">
            <a:extLst>
              <a:ext uri="{FF2B5EF4-FFF2-40B4-BE49-F238E27FC236}">
                <a16:creationId xmlns:a16="http://schemas.microsoft.com/office/drawing/2014/main" id="{F247ED05-FCB5-37FA-E434-99AF09E2BE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565" y="2735546"/>
            <a:ext cx="4053737" cy="3495029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8B4487-7F9C-0000-0778-15C0B596A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C9D86-1869-4BC5-B6F9-7D335E040E4A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FCCAD-0763-AEA3-333A-A73C3B6A0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D7216-92A8-F403-2B4D-BDFF419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14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1D8E47C-51AD-9618-9420-6DCAE11767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025" y="1461278"/>
            <a:ext cx="8352870" cy="532915"/>
          </a:xfrm>
          <a:prstGeom prst="rect">
            <a:avLst/>
          </a:prstGeom>
        </p:spPr>
      </p:pic>
      <p:pic>
        <p:nvPicPr>
          <p:cNvPr id="12" name="Picture 11" descr="Wigner at t=0.000 us&#10;&#10;AI-generated content may be incorrect.">
            <a:extLst>
              <a:ext uri="{FF2B5EF4-FFF2-40B4-BE49-F238E27FC236}">
                <a16:creationId xmlns:a16="http://schemas.microsoft.com/office/drawing/2014/main" id="{BFAD8730-BEE9-4C50-8CB6-8BDBCF8B7A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463" y="2759333"/>
            <a:ext cx="4053737" cy="349502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42A5739-2424-0A1E-3189-639BA55A953F}"/>
              </a:ext>
            </a:extLst>
          </p:cNvPr>
          <p:cNvSpPr txBox="1"/>
          <p:nvPr/>
        </p:nvSpPr>
        <p:spPr>
          <a:xfrm>
            <a:off x="265542" y="2356166"/>
            <a:ext cx="2035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Initial states:     +x</a:t>
            </a:r>
            <a:endParaRPr lang="en-C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CC019E-9073-893D-1AE6-81BCEF435BCC}"/>
              </a:ext>
            </a:extLst>
          </p:cNvPr>
          <p:cNvSpPr txBox="1"/>
          <p:nvPr/>
        </p:nvSpPr>
        <p:spPr>
          <a:xfrm>
            <a:off x="6398601" y="2356740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+z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400407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2936-F6E8-9F46-2AC9-1F4A144593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B69C4-1282-31B6-8F9A-F58FA3A91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sz="4300"/>
              <a:t>Static Kerr Hamiltonian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BFC2F-AB9C-8CA6-0E74-A11D3EC15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C9D86-1869-4BC5-B6F9-7D335E040E4A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636953-A3EB-45F2-0296-40F2B02430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676A3-5265-4AC3-298C-B2C0835C0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15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275CEBA-5562-6F6C-BAA2-EFC21678E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1" name="Picture 10" descr="A black and white image of a mathematical equation&#10;&#10;AI-generated content may be incorrect.">
            <a:extLst>
              <a:ext uri="{FF2B5EF4-FFF2-40B4-BE49-F238E27FC236}">
                <a16:creationId xmlns:a16="http://schemas.microsoft.com/office/drawing/2014/main" id="{67EC2EF5-BE26-8F72-E97D-549DD4F50F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6" t="12214" b="-764"/>
          <a:stretch>
            <a:fillRect/>
          </a:stretch>
        </p:blipFill>
        <p:spPr>
          <a:xfrm>
            <a:off x="805101" y="1369600"/>
            <a:ext cx="7562065" cy="600881"/>
          </a:xfrm>
          <a:prstGeom prst="rect">
            <a:avLst/>
          </a:prstGeom>
        </p:spPr>
      </p:pic>
      <p:pic>
        <p:nvPicPr>
          <p:cNvPr id="16" name="Picture 15" descr="A diagram of a red and blue line&#10;&#10;AI-generated content may be incorrect.">
            <a:extLst>
              <a:ext uri="{FF2B5EF4-FFF2-40B4-BE49-F238E27FC236}">
                <a16:creationId xmlns:a16="http://schemas.microsoft.com/office/drawing/2014/main" id="{9E8FC53F-E9EF-A9F9-7A60-9DC4A3F30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17" y="2492538"/>
            <a:ext cx="4042488" cy="3561767"/>
          </a:xfrm>
          <a:prstGeom prst="rect">
            <a:avLst/>
          </a:prstGeom>
        </p:spPr>
      </p:pic>
      <p:pic>
        <p:nvPicPr>
          <p:cNvPr id="18" name="Picture 17" descr="A red circle with blue and red lines&#10;&#10;AI-generated content may be incorrect.">
            <a:extLst>
              <a:ext uri="{FF2B5EF4-FFF2-40B4-BE49-F238E27FC236}">
                <a16:creationId xmlns:a16="http://schemas.microsoft.com/office/drawing/2014/main" id="{0C491BEA-1169-7F32-A50B-D69D87C2E6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5499" y="2492537"/>
            <a:ext cx="4042488" cy="35617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47A41FE-7C93-C294-E566-FAC74203BDAB}"/>
              </a:ext>
            </a:extLst>
          </p:cNvPr>
          <p:cNvSpPr txBox="1"/>
          <p:nvPr/>
        </p:nvSpPr>
        <p:spPr>
          <a:xfrm>
            <a:off x="265542" y="2119683"/>
            <a:ext cx="2035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Initial states:     +x</a:t>
            </a:r>
            <a:endParaRPr lang="en-CH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5645DED-2FEF-4567-802D-33E4B7133087}"/>
              </a:ext>
            </a:extLst>
          </p:cNvPr>
          <p:cNvSpPr txBox="1"/>
          <p:nvPr/>
        </p:nvSpPr>
        <p:spPr>
          <a:xfrm>
            <a:off x="6401820" y="2119683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+z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76994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0CA1-EC60-32B0-74E3-C0B4D8EAD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B8595-2DB8-BC69-634B-9291803DC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H" sz="4300" dirty="0"/>
              <a:t>Moon Cat State </a:t>
            </a:r>
            <a:r>
              <a:rPr lang="fr-CH" sz="4300" dirty="0" err="1"/>
              <a:t>Hamiltonian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83619-09E5-F8DD-A2FA-586EECBDE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C9D86-1869-4BC5-B6F9-7D335E040E4A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04A48-AAF3-F55F-819A-A4C5CADD6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900E9-36B7-8337-99E1-78DDCA220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16</a:t>
            </a:fld>
            <a:endParaRPr lang="en-US"/>
          </a:p>
        </p:txBody>
      </p:sp>
      <p:pic>
        <p:nvPicPr>
          <p:cNvPr id="8" name="Picture 7" descr="A red circle with blue and red lines&#10;&#10;AI-generated content may be incorrect.">
            <a:extLst>
              <a:ext uri="{FF2B5EF4-FFF2-40B4-BE49-F238E27FC236}">
                <a16:creationId xmlns:a16="http://schemas.microsoft.com/office/drawing/2014/main" id="{A250D98E-4E50-2B69-8580-0C2D520D56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6593" y="2353825"/>
            <a:ext cx="4185746" cy="3746610"/>
          </a:xfrm>
          <a:prstGeom prst="rect">
            <a:avLst/>
          </a:prstGeom>
        </p:spPr>
      </p:pic>
      <p:pic>
        <p:nvPicPr>
          <p:cNvPr id="10" name="Picture 9" descr="A diagram of a red and blue line&#10;&#10;AI-generated content may be incorrect.">
            <a:extLst>
              <a:ext uri="{FF2B5EF4-FFF2-40B4-BE49-F238E27FC236}">
                <a16:creationId xmlns:a16="http://schemas.microsoft.com/office/drawing/2014/main" id="{D3754B80-1A50-2AEC-9005-8AA931164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07" y="2353824"/>
            <a:ext cx="4313840" cy="3746611"/>
          </a:xfrm>
          <a:prstGeom prst="rect">
            <a:avLst/>
          </a:prstGeom>
        </p:spPr>
      </p:pic>
      <p:pic>
        <p:nvPicPr>
          <p:cNvPr id="13" name="Picture 12" descr="The text appears to be a mathematical or chemical formula involving variables and constants, possibly related to a thermodynamic or physical chemistry equation.&#10;&#10;AI-generated content may be incorrect.">
            <a:extLst>
              <a:ext uri="{FF2B5EF4-FFF2-40B4-BE49-F238E27FC236}">
                <a16:creationId xmlns:a16="http://schemas.microsoft.com/office/drawing/2014/main" id="{1595B1D1-FAEA-591F-EC2B-2C4BB7C3B2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617" y="1461022"/>
            <a:ext cx="8224690" cy="50568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D1DFB9D-1964-EA4B-E887-7AD71DE8FFD8}"/>
              </a:ext>
            </a:extLst>
          </p:cNvPr>
          <p:cNvSpPr txBox="1"/>
          <p:nvPr/>
        </p:nvSpPr>
        <p:spPr>
          <a:xfrm>
            <a:off x="137447" y="1981735"/>
            <a:ext cx="2035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Initial states:     +x</a:t>
            </a:r>
            <a:endParaRPr lang="en-CH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A1303AB-7FF8-6F75-4D3B-F4B605FF7CDE}"/>
              </a:ext>
            </a:extLst>
          </p:cNvPr>
          <p:cNvSpPr txBox="1"/>
          <p:nvPr/>
        </p:nvSpPr>
        <p:spPr>
          <a:xfrm>
            <a:off x="6398601" y="198173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+z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42990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EBAF1-C0DE-C8BA-8A84-B7407012C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E3478-4566-C2CB-B190-707BFE1E4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r>
              <a:rPr lang="fr-CH" sz="3600" dirty="0">
                <a:ea typeface="+mj-lt"/>
                <a:cs typeface="+mj-lt"/>
              </a:rPr>
              <a:t>(Original) Cross-Kerr </a:t>
            </a:r>
            <a:r>
              <a:rPr lang="fr-CH" sz="3600">
                <a:ea typeface="+mj-lt"/>
                <a:cs typeface="+mj-lt"/>
              </a:rPr>
              <a:t>Hamiltoninan</a:t>
            </a:r>
            <a:endParaRPr lang="en-US" sz="3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CF300-7BBA-EB77-9E7F-6A4B302D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DC9D86-1869-4BC5-B6F9-7D335E040E4A}" type="datetime1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C22A2-7B17-2D6D-1D74-5C2FA239A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A9DF61-E286-AD28-A8BA-CEE04240E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6" descr="A diagram of a red and blue line&#10;&#10;AI-generated content may be incorrect.">
            <a:extLst>
              <a:ext uri="{FF2B5EF4-FFF2-40B4-BE49-F238E27FC236}">
                <a16:creationId xmlns:a16="http://schemas.microsoft.com/office/drawing/2014/main" id="{1185008A-39DD-4392-94D5-1C079B2A9F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85" y="2283760"/>
            <a:ext cx="3970683" cy="3510283"/>
          </a:xfrm>
          <a:prstGeom prst="rect">
            <a:avLst/>
          </a:prstGeom>
        </p:spPr>
      </p:pic>
      <p:pic>
        <p:nvPicPr>
          <p:cNvPr id="11" name="Picture 10" descr="A red circle with blue and red lines&#10;&#10;AI-generated content may be incorrect.">
            <a:extLst>
              <a:ext uri="{FF2B5EF4-FFF2-40B4-BE49-F238E27FC236}">
                <a16:creationId xmlns:a16="http://schemas.microsoft.com/office/drawing/2014/main" id="{28F70576-50CF-43CA-F736-F651B9658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7430" y="2283760"/>
            <a:ext cx="3970683" cy="3510283"/>
          </a:xfrm>
          <a:prstGeom prst="rect">
            <a:avLst/>
          </a:prstGeom>
        </p:spPr>
      </p:pic>
      <p:pic>
        <p:nvPicPr>
          <p:cNvPr id="14" name="Picture 13" descr="The image depicts an equation with variables H, Hcat, x, and abtb, suggesting a mathematical or algebraic expression.&#10;&#10;AI-generated content may be incorrect.">
            <a:extLst>
              <a:ext uri="{FF2B5EF4-FFF2-40B4-BE49-F238E27FC236}">
                <a16:creationId xmlns:a16="http://schemas.microsoft.com/office/drawing/2014/main" id="{083701B1-C609-10F0-E517-6AD757C902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772" r="325" b="15836"/>
          <a:stretch>
            <a:fillRect/>
          </a:stretch>
        </p:blipFill>
        <p:spPr>
          <a:xfrm>
            <a:off x="2718481" y="1384952"/>
            <a:ext cx="3694975" cy="61101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D8AE41F-C8A4-B017-DFE3-0FEB0A4AECD7}"/>
              </a:ext>
            </a:extLst>
          </p:cNvPr>
          <p:cNvSpPr txBox="1"/>
          <p:nvPr/>
        </p:nvSpPr>
        <p:spPr>
          <a:xfrm>
            <a:off x="6403334" y="191308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+z</a:t>
            </a:r>
            <a:endParaRPr lang="en-C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5A31C7-4454-53DD-14F6-9358259ADB6C}"/>
              </a:ext>
            </a:extLst>
          </p:cNvPr>
          <p:cNvSpPr txBox="1"/>
          <p:nvPr/>
        </p:nvSpPr>
        <p:spPr>
          <a:xfrm>
            <a:off x="137447" y="1981735"/>
            <a:ext cx="2035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CH"/>
              <a:t>Initial states:     +x</a:t>
            </a:r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074315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4E7050-9548-1DAA-D78A-BE24F9FF1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4A9DB-DE97-9E67-5898-DF83D3FE4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7EC02A-0160-C237-517B-23BC84EA04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Improved qubit lifetime</a:t>
            </a:r>
          </a:p>
          <a:p>
            <a:r>
              <a:t>Stable convergence</a:t>
            </a:r>
          </a:p>
          <a:p>
            <a:r>
              <a:t>Robust against drift</a:t>
            </a:r>
          </a:p>
          <a:p>
            <a:r>
              <a:t>Competitive performance vs baselines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63F0238-C29B-A7DC-9200-ABA900FE338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88150" y="1270"/>
            <a:ext cx="1978660" cy="197866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FE40E-345E-E269-0C95-467595AE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288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FD15-5EB1-35DF-49E3-FBFDCCB95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300"/>
              <a:t>Future Work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4605AB-628E-4F63-B03C-9882A33F2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86" y="2761999"/>
            <a:ext cx="8601077" cy="23547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+mn-lt"/>
                <a:cs typeface="+mn-lt"/>
              </a:rPr>
              <a:t>Integrate more advanced or different optimizers</a:t>
            </a:r>
            <a:endParaRPr lang="en-US"/>
          </a:p>
          <a:p>
            <a:r>
              <a:rPr lang="en-US">
                <a:ea typeface="+mn-lt"/>
                <a:cs typeface="+mn-lt"/>
              </a:rPr>
              <a:t>Improve drift modeling and real-time adaptation</a:t>
            </a:r>
            <a:endParaRPr lang="en-US"/>
          </a:p>
          <a:p>
            <a:r>
              <a:rPr lang="en-US">
                <a:ea typeface="+mn-lt"/>
                <a:cs typeface="+mn-lt"/>
              </a:rPr>
              <a:t>Extend to multi-qubit systems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8E1AB-974B-4552-796C-01F715BDF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E4730C-EE70-4072-B3DC-25A4B36838F3}" type="datetime1">
              <a:t>5/10/2026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C787F6-A139-315F-C936-DCC491E6E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2877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t>Successfully addressed challenge</a:t>
            </a:r>
          </a:p>
          <a:p>
            <a:r>
              <a:t>Built reusable framework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02A3A6A-49B7-D0A3-C076-838AB4421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05372" y="6356351"/>
            <a:ext cx="2057400" cy="365125"/>
          </a:xfrm>
        </p:spPr>
        <p:txBody>
          <a:bodyPr/>
          <a:lstStyle/>
          <a:p>
            <a:fld id="{A65A5C87-DF58-40C8-B092-1DE63DB4547E}" type="slidenum">
              <a:rPr lang="en-US" dirty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DD714-5B8D-E2C8-57BE-D2DB98F2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B48948D-7ED0-8B69-824A-B26AD7B3A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527AC8-0788-458B-B197-B49A2FCBCF0D}" type="datetime1">
              <a:t>5/10/2026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003E7A-3403-5952-85C1-7ACCEC4B1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F2593D-C494-0735-35CF-1143176D6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en-US" dirty="0"/>
              <a:t>21</a:t>
            </a:fld>
            <a:endParaRPr lang="en-US"/>
          </a:p>
        </p:txBody>
      </p:sp>
      <p:pic>
        <p:nvPicPr>
          <p:cNvPr id="6" name="Picture 5" descr="Quantum Solution - The Box〡Alice &amp; Bob">
            <a:extLst>
              <a:ext uri="{FF2B5EF4-FFF2-40B4-BE49-F238E27FC236}">
                <a16:creationId xmlns:a16="http://schemas.microsoft.com/office/drawing/2014/main" id="{B115A7A8-8E0C-5905-1A51-AE8284B08E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5791" y="2062133"/>
            <a:ext cx="2743200" cy="2743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42313C-1BFB-06C9-4385-AAC6C4F9DCEE}"/>
              </a:ext>
            </a:extLst>
          </p:cNvPr>
          <p:cNvSpPr txBox="1"/>
          <p:nvPr/>
        </p:nvSpPr>
        <p:spPr>
          <a:xfrm>
            <a:off x="5586612" y="4560577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4262587296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ccentBoxVTI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AccentBox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F4FE582F-5DDE-4E50-A331-B77FB79D7361}" vid="{42624B42-66F4-4B9A-A3DB-EB561F16279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(4:3)</PresentationFormat>
  <Slides>21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AccentBoxVTI</vt:lpstr>
      <vt:lpstr>Adaptive Calibration of Cat Qubits</vt:lpstr>
      <vt:lpstr>The Challenge: Keeping Cat Qubits Alive</vt:lpstr>
      <vt:lpstr>Problem Statement</vt:lpstr>
      <vt:lpstr>Model</vt:lpstr>
      <vt:lpstr>Model Variants</vt:lpstr>
      <vt:lpstr>Initialisation</vt:lpstr>
      <vt:lpstr>Reward function objectives</vt:lpstr>
      <vt:lpstr>Our Approach</vt:lpstr>
      <vt:lpstr>Computational Optimization</vt:lpstr>
      <vt:lpstr>Results</vt:lpstr>
      <vt:lpstr>Results</vt:lpstr>
      <vt:lpstr>PowerPoint Presentation</vt:lpstr>
      <vt:lpstr>Amplitude Drift</vt:lpstr>
      <vt:lpstr>Frequency Drift</vt:lpstr>
      <vt:lpstr>Static Kerr Hamiltonian</vt:lpstr>
      <vt:lpstr>Moon Cat State Hamiltonian</vt:lpstr>
      <vt:lpstr>(Original) Cross-Kerr Hamiltoninan</vt:lpstr>
      <vt:lpstr>Results</vt:lpstr>
      <vt:lpstr>Future Work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45</cp:revision>
  <dcterms:created xsi:type="dcterms:W3CDTF">2013-01-27T09:14:16Z</dcterms:created>
  <dcterms:modified xsi:type="dcterms:W3CDTF">2026-05-10T09:00:09Z</dcterms:modified>
  <cp:category/>
</cp:coreProperties>
</file>